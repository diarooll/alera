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9841a71e-dc19-3178-620a-7dccdc44fd8e}">
          <p14:sldIdLst>
            <p14:sldId id="256"/>
            <p14:sldId id="257"/>
          </p14:sldIdLst>
        </p14:section>
        <p14:section name="1 · Imersão" id="{64a52406-db58-e962-fc5c-db8386ce6c13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2 · Análise e síntese" id="{5a2846df-6734-1056-f41c-57a963c3f78e}">
          <p14:sldIdLst>
            <p14:sldId id="264"/>
            <p14:sldId id="265"/>
          </p14:sldIdLst>
        </p14:section>
        <p14:section name="3 · Ideação" id="{515bd741-a228-a2c4-702a-d53d4c4ddff6}">
          <p14:sldIdLst>
            <p14:sldId id="266"/>
            <p14:sldId id="267"/>
            <p14:sldId id="268"/>
            <p14:sldId id="269"/>
          </p14:sldIdLst>
        </p14:section>
        <p14:section name="Soluções" id="{62e04423-5abe-db6f-6467-6fafdc3a5611}">
          <p14:sldIdLst>
            <p14:sldId id="270"/>
            <p14:sldId id="271"/>
            <p14:sldId id="272"/>
            <p14:sldId id="273"/>
          </p14:sldIdLst>
        </p14:section>
        <p14:section name="Storytelling" id="{fb7fdf58-ec67-7370-8b55-fe23cd51bedc}">
          <p14:sldIdLst>
            <p14:sldId id="274"/>
            <p14:sldId id="275"/>
          </p14:sldIdLst>
        </p14:section>
        <p14:section name="Encerramento" id="{780df3e3-0bd9-8f00-7605-1b6be2c2b582}">
          <p14:sldIdLst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apresentar o grupo MonkeyNerds e a ALERA (Acompanhamento Local de Emergências e Riscos Ambientais). Frase de impacto: em fevereiro de 2026, a chuva chegou antes do aviso para muita gente em Juiz de Fora.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onde estamos no processo: Descoberta (Imersão), Interpretação (Análise e Síntese) e Ideação. Experimentação e Evolução ficam para as próximas sprints, com a maquete.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Números para abrir a imersão. Destacar que o risco é permanente: 142 áreas de risco geológico e cerca de um quarto da população vivendo em área de risco.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Desk research: seis reportagens. Pontos principais: alerta genérico e sem sirene, retirada preventiva falhou (MPF), drenagem entupida no Centro e a cidade continua em alerta em outubro de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Benchmark do que já existe. O SMS 40199 depende de cadastro por CEP; o cell broadcast da Defesa Civil toca sem cadastro, mas vale para a área inteira; o Cemaden monitora e avisa os órgãos, não o morador; e os apps de clima mostram a previsão, mas não traduzem em risco para a casa da pessoa. Nenhum junta previsão, nome da rua e medição local. É aí que a ALERA entra.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Pesquisa com pessoa de fora do grupo: o retorno do Anderson Rezende e da professora no pitch de 29/10. Principal mudança que veio daí: dividir a ALERA em duas fases. A Fase 1 é comunicação pelo WhatsApp com previsão do tempo, sem hardware, porque é mais fácil uma prefeitura aprovar. A Fase 2 instala os sensores aos poucos. Também tiramos o orçamento desta etapa, como ele sugeriu.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Stakeholders em três grupos: quem sofre o impacto, quem tem o dever de agir e a rede que ampara depois. Para as nossas soluções, o usuário principal é o morador de encosta e quem recebe os avisos é a Defesa Civil e a Secretaria de Obras.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integrante lê a própria percepção. Elas apontam para os mesmos temas que aparecem nos insights: aviso genérico, pós-desastre, lixo nos bueiros e falta de tempo para fugir.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Oito insights. Os dois primeiros falam de alerta: o aviso existe, mas é genérico e sem sirene. Depois risco geológico, drenagem e pós-desastre. Os dois últimos vieram da entrevista no pitch: o aviso precisa estar no WhatsApp e a solução precisa começar barata, sem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Agrupando, aparece um padrão: ninguém sabe o que está acontecendo naquele ponto específico, seja a encosta atrás da casa ou o bueiro da rua. É esse o vazio que nossas ideias atacam.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Oito ideias. As três em amarelo mais forte viraram a ALERA: alerta por WhatsApp, sensor de deslizamento e bueiro inteligente. A ideia do WhatsApp entrou depois da conversa com a banca do pitch. O triturador foi a primeira versão do bueiro e foi descartada: o lixo triturado continua descendo pela galeria, vira microplástico no rio Paraibuna e as lâminas são um risco na manutenção.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 = gravidade, U = urgência, T = tendência de piorar, O = operacionalização (facilidade). O alerta por WhatsApp e o sensor atacam o mesmo problema, o deslizamento sem aviso, que é o que mais mata. O WhatsApp passa na frente porque não precisa instalar nada. O triturador cai para o fim por ser difícil e perigoso de operar.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matriz, o alerta por WhatsApp e o bueiro aparecem como ganhos rápidos (alto impacto, pouco esforço) e o sensor como projeto estratégico. Juntando com a GUT, a decisão é começar pelo WhatsApp (Fase 1) e instalar sensor e bueiro aos poucos (Fase 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três ideias que ficaram no topo viram partes da ALERA. O alerta por WhatsApp entra primeiro porque é o mais fácil e já resolve o aviso genérico. O sensor é o de maior impacto, porque mede a encosta de verdade. O bueiro é barato e ataca o lixo. Por isso a ALERA é dividida em duas fases.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principal mudança depois do pitch. Fase 1: o morador se cadastra no site com o telefone e a rua; o sistema puxa a previsão de uma API de clima, cruza com o mapa das áreas de risco e manda o aviso pelo WhatsApp com o nome da rua. Não precisa instalar nada, então é mais fácil a prefeitura aprovar. Fase 2: em paralelo, o Sensor ALERA e o Bueiro ALERA vão sendo instalados nas áreas mais críticas, e o que eles medem entra no mesmo aviso. Começamos pelo WhatsApp e outros canais, como Telegram e SMS, entram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Fluxo da Fase 1: o morador se cadastra no site com telefone e rua. O sistema consulta uma API de clima, como a Open-Meteo, e cruza a previsão com o mapa das 142 áreas de risco da Defesa Civil. A IA monta a mensagem com o nome da rua e o nível, e o aviso sai pelo WhatsApp. Para produção usaríamos a API oficial do WhatsApp Business, que precisa de aprovação da Meta. Os limites de 30 e 50 mm são de demonstração e seriam calibrados com a Defesa Civil.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Fase 2. Três sensores na encosta mandam dados para o ESP32, que classifica o risco em quatro níveis e avisa por luz e sirene na rua, mesmo sem internet, e pelo mesmo WhatsApp da Fase 1. Se o sensor mede perigo, o aviso deixa de ser só previsão e passa a ser medição. Os limites são de demonstração; numa instalação real seriam calibrados com a Defesa Civil e o Cemaden.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Versão 2 do bueiro: em vez de triturar, o cesto retém o lixo. Sensor ultrassônico mede o quanto o cesto está cheio e a boia detecta água subindo. O aviso vai pelo WhatsApp para a Secretaria de Obras, que fica sabendo qual bueiro está cheio antes da chuva. Usa o mesmo tipo de placa ESP32 do Sensor ALERA.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Contar a história devagar, como narrativa. A parte da poeira e da falta de sirene vem do relato de um sobrevivente real. Fechar com a causa: solo saturado, encosta sem monitoramento e aviso genérico.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Mesma noite, mesma personagem, agora com a ALERA. O primeiro aviso vem da Fase 1, pelo WhatsApp, só com a previsão. Durante a noite, o Sensor ALERA da Fase 2 confirma o risco medindo a encosta. Quando a encosta cede, as casas já estão vazias. Esse é o efeito que queremos.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os próximos passos: primeiro a Fase 1, depois o hardware e a integração. Terminar com o slogan, agradecer e abrir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</a:rPr>
              <a:t>MonkeyNerds  ·  Sprint 1  ·  ALERA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3233A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3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apublica.org/2026/03/eu-vi-a-agua-no-outro-dia-a-lama-juiz-de-fora-tem-8-mil-desabrigados-pelas-chuvas/" TargetMode="External"/><Relationship Id="rId4" Type="http://schemas.openxmlformats.org/officeDocument/2006/relationships/hyperlink" Target="https://www.gazetadigital.com.br/editorias/brasil/juiz-de-fora-para-sobreviventes-sistemas-de-alertas-nao-funcionaram/838490" TargetMode="External"/><Relationship Id="rId6" Type="http://schemas.openxmlformats.org/officeDocument/2006/relationships/hyperlink" Target="https://www.mpf.mp.br/o-mpf/unidades/pr-mg/noticias/mpf-apura-falhas-na-prevencao-e-na-resposta-a-desastres-climaticos-em-juiz-de-fora-e-uba-mg" TargetMode="External"/><Relationship Id="rId9" Type="http://schemas.openxmlformats.org/officeDocument/2006/relationships/hyperlink" Target="https://www.acessa.com/cidade/2026/10/341533-chuvas-intensas-colocam-juiz-de-fora-em-alerta-para-deslizamentos-apos-media-de-uma-ocorrencia-por-hora.html" TargetMode="External"/><Relationship Id="rId11" Type="http://schemas.openxmlformats.org/officeDocument/2006/relationships/hyperlink" Target="https://www.otempo.com.br/tempo/2026/10/3/juiz-de-fora-mg-em-alerta-vermelho-para-mais-de-100-mm-de-chuva-e-risco-de-grandes-deslizamentos-diz-inmet" TargetMode="External"/><Relationship Id="rId1" Type="http://schemas.openxmlformats.org/officeDocument/2006/relationships/image" Target="../media/image-4-1.png"/><Relationship Id="rId3" Type="http://schemas.openxmlformats.org/officeDocument/2006/relationships/image" Target="../media/image-4-2.png"/><Relationship Id="rId5" Type="http://schemas.openxmlformats.org/officeDocument/2006/relationships/image" Target="../media/image-4-3.png"/><Relationship Id="rId7" Type="http://schemas.openxmlformats.org/officeDocument/2006/relationships/image" Target="../media/image-4-4.png"/><Relationship Id="rId8" Type="http://schemas.openxmlformats.org/officeDocument/2006/relationships/image" Target="../media/image-4-5.png"/><Relationship Id="rId10" Type="http://schemas.openxmlformats.org/officeDocument/2006/relationships/image" Target="../media/image-4-6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apublica.org/2026/03/eu-vi-a-agua-no-outro-dia-a-lama-juiz-de-fora-tem-8-mil-desabrigados-pelas-chuvas/" TargetMode="External"/><Relationship Id="rId2" Type="http://schemas.openxmlformats.org/officeDocument/2006/relationships/hyperlink" Target="https://www.gazetadigital.com.br/editorias/brasil/juiz-de-fora-para-sobreviventes-sistemas-de-alertas-nao-funcionaram/838490" TargetMode="External"/><Relationship Id="rId3" Type="http://schemas.openxmlformats.org/officeDocument/2006/relationships/hyperlink" Target="https://www.mpf.mp.br/o-mpf/unidades/pr-mg/noticias/mpf-apura-falhas-na-prevencao-e-na-resposta-a-desastres-climaticos-em-juiz-de-fora-e-uba-mg" TargetMode="External"/><Relationship Id="rId4" Type="http://schemas.openxmlformats.org/officeDocument/2006/relationships/hyperlink" Target="https://www.acessa.com/cidade/2026/10/341533-chuvas-intensas-colocam-juiz-de-fora-em-alerta-para-deslizamentos-apos-media-de-uma-ocorrencia-por-hora.html" TargetMode="External"/><Relationship Id="rId5" Type="http://schemas.openxmlformats.org/officeDocument/2006/relationships/hyperlink" Target="https://www.otempo.com.br/tempo/2026/10/3/juiz-de-fora-mg-em-alerta-vermelho-para-mais-de-100-mm-de-chuva-e-risco-de-grandes-deslizamentos-diz-inmet" TargetMode="External"/><Relationship Id="rId6" Type="http://schemas.openxmlformats.org/officeDocument/2006/relationships/hyperlink" Target="https://www.em.com.br/trends/2026/02/7358972-como-funciona-o-alerta-da-defesa-civil-que-chega-por-sms-no-seu-celular.html" TargetMode="External"/><Relationship Id="rId7" Type="http://schemas.openxmlformats.org/officeDocument/2006/relationships/hyperlink" Target="https://teletime.com.br/20/07/2026/mg-sp-e-am-lideram-alertas-extremos-da-defesa-civil-no-primeiro-semestre/" TargetMode="External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da etapa"/>
          <p:cNvSpPr/>
          <p:nvPr/>
        </p:nvSpPr>
        <p:spPr>
          <a:xfrm>
            <a:off x="457200" y="256032"/>
            <a:ext cx="2834640" cy="256032"/>
          </a:xfrm>
          <a:prstGeom prst="roundRect">
            <a:avLst>
              <a:gd name="adj" fmla="val 50000"/>
            </a:avLst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</a:rPr>
              <a:t>SPRINT 1  ·  DESIGN THINKING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400" kern="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ALERA</a:t>
            </a:r>
            <a:endParaRPr lang="en-US" sz="5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ALERA </a:t>
            </a:r>
            <a:pPr indent="0" marL="0">
              <a:buNone/>
            </a:pPr>
            <a:r>
              <a:rPr lang="en-US" sz="2000" b="1" dirty="0">
                <a:solidFill>
                  <a:srgbClr val="E07A2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 lugar certo, na hora certa</a:t>
            </a:r>
            <a:endParaRPr lang="en-US" sz="2000" dirty="0"/>
          </a:p>
        </p:txBody>
      </p:sp>
      <p:sp>
        <p:nvSpPr>
          <p:cNvPr id="6" name="Significado de ALERA"/>
          <p:cNvSpPr txBox="1"/>
          <p:nvPr/>
        </p:nvSpPr>
        <p:spPr>
          <a:xfrm>
            <a:off x="457200" y="2011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7A2F"/>
                </a:solidFill>
              </a:rPr>
              <a:t>A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companhamento </a:t>
            </a:r>
            <a:pPr indent="0" marL="0">
              <a:buNone/>
            </a:pPr>
            <a:r>
              <a:rPr lang="en-US" sz="1450" b="1" dirty="0">
                <a:solidFill>
                  <a:srgbClr val="E07A2F"/>
                </a:solidFill>
              </a:rPr>
              <a:t>L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ocal de </a:t>
            </a:r>
            <a:pPr indent="0" marL="0">
              <a:buNone/>
            </a:pPr>
            <a:r>
              <a:rPr lang="en-US" sz="1450" b="1" dirty="0">
                <a:solidFill>
                  <a:srgbClr val="E07A2F"/>
                </a:solidFill>
              </a:rPr>
              <a:t>E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mergências e </a:t>
            </a:r>
            <a:pPr indent="0" marL="0">
              <a:buNone/>
            </a:pPr>
            <a:r>
              <a:rPr lang="en-US" sz="1450" b="1" dirty="0">
                <a:solidFill>
                  <a:srgbClr val="E07A2F"/>
                </a:solidFill>
              </a:rPr>
              <a:t>R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iscos </a:t>
            </a:r>
            <a:pPr indent="0" marL="0">
              <a:buNone/>
            </a:pPr>
            <a:r>
              <a:rPr lang="en-US" sz="1450" b="1" dirty="0">
                <a:solidFill>
                  <a:srgbClr val="E07A2F"/>
                </a:solidFill>
              </a:rPr>
              <a:t>A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mbientais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591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F5"/>
                </a:solidFill>
              </a:rPr>
              <a:t>Chuvas em Juiz de Fora (MG)  ·  Imersão, análise e ideação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834640"/>
            <a:ext cx="5303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E07A2F"/>
                </a:solidFill>
              </a:rPr>
              <a:t>MonkeyNerds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FFFFF"/>
                </a:solidFill>
              </a:rPr>
              <a:t>Daniel Souza Gomes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FE3F5"/>
                </a:solidFill>
              </a:rPr>
              <a:t>   ·   RM 575813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FFFFF"/>
                </a:solidFill>
              </a:rPr>
              <a:t>Victor Santos Ferreira de Morais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FE3F5"/>
                </a:solidFill>
              </a:rPr>
              <a:t>   ·   RM 575508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FFFFF"/>
                </a:solidFill>
              </a:rPr>
              <a:t>Diego Ramos Pereira Gonzalez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FE3F5"/>
                </a:solidFill>
              </a:rPr>
              <a:t>   ·   RM 574620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FFFFF"/>
                </a:solidFill>
              </a:rPr>
              <a:t>Diego Alejandro Ribeiro Olalla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FE3F5"/>
                </a:solidFill>
              </a:rPr>
              <a:t>   ·   RM 575447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da etapa"/>
          <p:cNvSpPr/>
          <p:nvPr/>
        </p:nvSpPr>
        <p:spPr>
          <a:xfrm>
            <a:off x="457200" y="256032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2EBF0"/>
          </a:solidFill>
          <a:ln w="12700">
            <a:solidFill>
              <a:srgbClr val="E2EB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2E6F95"/>
                </a:solidFill>
              </a:rPr>
              <a:t>PROCESSO</a:t>
            </a:r>
            <a:endParaRPr lang="en-US" sz="10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33A"/>
                </a:solidFill>
              </a:rPr>
              <a:t>Nossa jornada de Design Thinking</a:t>
            </a:r>
            <a:endParaRPr lang="en-US" sz="3000" dirty="0"/>
          </a:p>
        </p:txBody>
      </p:sp>
      <p:sp>
        <p:nvSpPr>
          <p:cNvPr id="5" name="Linha de apoio"/>
          <p:cNvSpPr txBox="1"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As cinco fases do modelo. Nesta sprint entregamos as três primeiras.</a:t>
            </a:r>
            <a:endParaRPr lang="en-US" sz="1300" dirty="0"/>
          </a:p>
        </p:txBody>
      </p:sp>
      <p:sp>
        <p:nvSpPr>
          <p:cNvPr id="6" name="Linha do processo"/>
          <p:cNvSpPr/>
          <p:nvPr/>
        </p:nvSpPr>
        <p:spPr>
          <a:xfrm>
            <a:off x="1234440" y="2080260"/>
            <a:ext cx="6675120" cy="0"/>
          </a:xfrm>
          <a:prstGeom prst="line">
            <a:avLst/>
          </a:prstGeom>
          <a:noFill/>
          <a:ln w="25400">
            <a:solidFill>
              <a:srgbClr val="D5DCE4"/>
            </a:solidFill>
            <a:prstDash val="dash"/>
          </a:ln>
        </p:spPr>
      </p:sp>
      <p:sp>
        <p:nvSpPr>
          <p:cNvPr id="7" name="Círculo do ícone"/>
          <p:cNvSpPr/>
          <p:nvPr/>
        </p:nvSpPr>
        <p:spPr>
          <a:xfrm>
            <a:off x="845820" y="1691640"/>
            <a:ext cx="777240" cy="777240"/>
          </a:xfrm>
          <a:prstGeom prst="ellipse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pic>
        <p:nvPicPr>
          <p:cNvPr id="8" name="Image 0" descr="Fa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675" y="1901495"/>
            <a:ext cx="357530" cy="35753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5786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33A"/>
                </a:solidFill>
              </a:rPr>
              <a:t>1. Descoberta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290779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5"/>
                </a:solidFill>
              </a:rPr>
              <a:t>Imersão: reportagens, mercado, entrevista e stakeholders</a:t>
            </a:r>
            <a:endParaRPr lang="en-US" sz="1150" dirty="0"/>
          </a:p>
        </p:txBody>
      </p:sp>
      <p:sp>
        <p:nvSpPr>
          <p:cNvPr id="11" name="Círculo do ícone"/>
          <p:cNvSpPr/>
          <p:nvPr/>
        </p:nvSpPr>
        <p:spPr>
          <a:xfrm>
            <a:off x="2514600" y="1691640"/>
            <a:ext cx="777240" cy="777240"/>
          </a:xfrm>
          <a:prstGeom prst="ellipse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pic>
        <p:nvPicPr>
          <p:cNvPr id="12" name="Image 1" descr="FaCompa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455" y="1901495"/>
            <a:ext cx="357530" cy="35753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125980" y="25786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33A"/>
                </a:solidFill>
              </a:rPr>
              <a:t>2. Interpretação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171700" y="290779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5"/>
                </a:solidFill>
              </a:rPr>
              <a:t>Análise e síntese: insights e diagrama de afinidades</a:t>
            </a:r>
            <a:endParaRPr lang="en-US" sz="1150" dirty="0"/>
          </a:p>
        </p:txBody>
      </p:sp>
      <p:sp>
        <p:nvSpPr>
          <p:cNvPr id="15" name="Círculo do ícone"/>
          <p:cNvSpPr/>
          <p:nvPr/>
        </p:nvSpPr>
        <p:spPr>
          <a:xfrm>
            <a:off x="4183380" y="1691640"/>
            <a:ext cx="777240" cy="777240"/>
          </a:xfrm>
          <a:prstGeom prst="ellipse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pic>
        <p:nvPicPr>
          <p:cNvPr id="16" name="Image 2" descr="FaLightbul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3235" y="1901495"/>
            <a:ext cx="357530" cy="35753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794760" y="25786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33A"/>
                </a:solidFill>
              </a:rPr>
              <a:t>3. Ideação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3840480" y="290779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5"/>
                </a:solidFill>
              </a:rPr>
              <a:t>Brainstorming, Matriz GUT e matriz de posicionamento</a:t>
            </a:r>
            <a:endParaRPr lang="en-US" sz="1150" dirty="0"/>
          </a:p>
        </p:txBody>
      </p:sp>
      <p:sp>
        <p:nvSpPr>
          <p:cNvPr id="19" name="Círculo do ícone"/>
          <p:cNvSpPr/>
          <p:nvPr/>
        </p:nvSpPr>
        <p:spPr>
          <a:xfrm>
            <a:off x="5852160" y="1691640"/>
            <a:ext cx="777240" cy="777240"/>
          </a:xfrm>
          <a:prstGeom prst="ellipse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pic>
        <p:nvPicPr>
          <p:cNvPr id="20" name="Image 3" descr="FaFlas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015" y="1901495"/>
            <a:ext cx="357530" cy="35753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63540" y="25786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675"/>
                </a:solidFill>
              </a:rPr>
              <a:t>4. Experimentação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509260" y="290779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5"/>
                </a:solidFill>
              </a:rPr>
              <a:t>Fase 1: site e WhatsApp. Fase 2: maquete com ESP32</a:t>
            </a:r>
            <a:endParaRPr lang="en-US" sz="1150" dirty="0"/>
          </a:p>
        </p:txBody>
      </p:sp>
      <p:sp>
        <p:nvSpPr>
          <p:cNvPr id="23" name="Círculo do ícone"/>
          <p:cNvSpPr/>
          <p:nvPr/>
        </p:nvSpPr>
        <p:spPr>
          <a:xfrm>
            <a:off x="7520940" y="1691640"/>
            <a:ext cx="777240" cy="777240"/>
          </a:xfrm>
          <a:prstGeom prst="ellipse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pic>
        <p:nvPicPr>
          <p:cNvPr id="24" name="Image 4" descr="FaSyncAl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0795" y="1901495"/>
            <a:ext cx="357530" cy="35753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132320" y="25786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675"/>
                </a:solidFill>
              </a:rPr>
              <a:t>5. Evolução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7178040" y="290779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5"/>
                </a:solidFill>
              </a:rPr>
              <a:t>Testes, calibração e melhorias</a:t>
            </a:r>
            <a:endParaRPr lang="en-US" sz="1150" dirty="0"/>
          </a:p>
        </p:txBody>
      </p:sp>
      <p:sp>
        <p:nvSpPr>
          <p:cNvPr id="27" name="Faixa Sprint 1"/>
          <p:cNvSpPr/>
          <p:nvPr/>
        </p:nvSpPr>
        <p:spPr>
          <a:xfrm>
            <a:off x="457200" y="4069080"/>
            <a:ext cx="4892040" cy="457200"/>
          </a:xfrm>
          <a:prstGeom prst="roundRect">
            <a:avLst>
              <a:gd name="adj" fmla="val 20000"/>
            </a:avLst>
          </a:prstGeom>
          <a:solidFill>
            <a:srgbClr val="E0E9EF"/>
          </a:solidFill>
          <a:ln w="12700">
            <a:solidFill>
              <a:srgbClr val="E0E9EF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457200" y="40690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6F95"/>
                </a:solidFill>
              </a:rPr>
              <a:t>Sprint 1: esta entrega</a:t>
            </a:r>
            <a:endParaRPr lang="en-US" sz="1300" dirty="0"/>
          </a:p>
        </p:txBody>
      </p:sp>
      <p:sp>
        <p:nvSpPr>
          <p:cNvPr id="29" name="Faixa próximas sprints"/>
          <p:cNvSpPr/>
          <p:nvPr/>
        </p:nvSpPr>
        <p:spPr>
          <a:xfrm>
            <a:off x="5463540" y="4069080"/>
            <a:ext cx="3223260" cy="457200"/>
          </a:xfrm>
          <a:prstGeom prst="roundRect">
            <a:avLst>
              <a:gd name="adj" fmla="val 20000"/>
            </a:avLst>
          </a:prstGeom>
          <a:solidFill>
            <a:srgbClr val="EEF2F6"/>
          </a:solidFill>
          <a:ln w="12700">
            <a:solidFill>
              <a:srgbClr val="D5DCE4"/>
            </a:solidFill>
            <a:prstDash val="dash"/>
          </a:ln>
        </p:spPr>
      </p:sp>
      <p:sp>
        <p:nvSpPr>
          <p:cNvPr id="30" name="Text 23"/>
          <p:cNvSpPr txBox="1"/>
          <p:nvPr/>
        </p:nvSpPr>
        <p:spPr>
          <a:xfrm>
            <a:off x="5463540" y="4069080"/>
            <a:ext cx="3223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675"/>
                </a:solidFill>
              </a:rPr>
              <a:t>Próximas sprints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da etapa"/>
          <p:cNvSpPr/>
          <p:nvPr/>
        </p:nvSpPr>
        <p:spPr>
          <a:xfrm>
            <a:off x="457200" y="25603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E2EBF0"/>
          </a:solidFill>
          <a:ln w="12700">
            <a:solidFill>
              <a:srgbClr val="E2EB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2E6F95"/>
                </a:solidFill>
              </a:rPr>
              <a:t>1 · IMERSÃO</a:t>
            </a:r>
            <a:endParaRPr lang="en-US" sz="10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33A"/>
                </a:solidFill>
              </a:rPr>
              <a:t>O tamanho do problema</a:t>
            </a:r>
            <a:endParaRPr lang="en-US" sz="3000" dirty="0"/>
          </a:p>
        </p:txBody>
      </p:sp>
      <p:sp>
        <p:nvSpPr>
          <p:cNvPr id="5" name="Linha de apoio"/>
          <p:cNvSpPr txBox="1"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Fevereiro de 2026 foi o pior verão da história recente de Juiz de Fora.</a:t>
            </a:r>
            <a:endParaRPr lang="en-US" sz="1300" dirty="0"/>
          </a:p>
        </p:txBody>
      </p:sp>
      <p:sp>
        <p:nvSpPr>
          <p:cNvPr id="6" name="Card de número"/>
          <p:cNvSpPr/>
          <p:nvPr/>
        </p:nvSpPr>
        <p:spPr>
          <a:xfrm>
            <a:off x="457200" y="1645920"/>
            <a:ext cx="1920240" cy="20574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7" name="Marcador"/>
          <p:cNvSpPr/>
          <p:nvPr/>
        </p:nvSpPr>
        <p:spPr>
          <a:xfrm>
            <a:off x="640080" y="1847088"/>
            <a:ext cx="146304" cy="146304"/>
          </a:xfrm>
          <a:prstGeom prst="ellipse">
            <a:avLst/>
          </a:prstGeom>
          <a:solidFill>
            <a:srgbClr val="C8453C"/>
          </a:solidFill>
          <a:ln w="12700">
            <a:solidFill>
              <a:srgbClr val="C845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0574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453C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60+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7004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3"/>
                </a:solidFill>
              </a:rPr>
              <a:t>mortes na cidade entre 23 e 28 de fevereiro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36499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675"/>
                </a:solidFill>
              </a:rPr>
              <a:t>Gazeta Digital</a:t>
            </a:r>
            <a:endParaRPr lang="en-US" sz="1000" dirty="0"/>
          </a:p>
        </p:txBody>
      </p:sp>
      <p:sp>
        <p:nvSpPr>
          <p:cNvPr id="11" name="Card de número"/>
          <p:cNvSpPr/>
          <p:nvPr/>
        </p:nvSpPr>
        <p:spPr>
          <a:xfrm>
            <a:off x="2560320" y="1645920"/>
            <a:ext cx="1920240" cy="20574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12" name="Marcador"/>
          <p:cNvSpPr/>
          <p:nvPr/>
        </p:nvSpPr>
        <p:spPr>
          <a:xfrm>
            <a:off x="2743200" y="1847088"/>
            <a:ext cx="146304" cy="146304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0" y="20574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7A2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8.854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267004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3"/>
                </a:solidFill>
              </a:rPr>
              <a:t>pessoas desabrigadas ou desalojadas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336499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675"/>
                </a:solidFill>
              </a:rPr>
              <a:t>Prefeitura, via Ag. Pública</a:t>
            </a:r>
            <a:endParaRPr lang="en-US" sz="1000" dirty="0"/>
          </a:p>
        </p:txBody>
      </p:sp>
      <p:sp>
        <p:nvSpPr>
          <p:cNvPr id="16" name="Card de número"/>
          <p:cNvSpPr/>
          <p:nvPr/>
        </p:nvSpPr>
        <p:spPr>
          <a:xfrm>
            <a:off x="4663440" y="1645920"/>
            <a:ext cx="1920240" cy="20574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17" name="Marcador"/>
          <p:cNvSpPr/>
          <p:nvPr/>
        </p:nvSpPr>
        <p:spPr>
          <a:xfrm>
            <a:off x="4846320" y="1847088"/>
            <a:ext cx="146304" cy="146304"/>
          </a:xfrm>
          <a:prstGeom prst="ellipse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20574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6F9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752 mm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267004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3"/>
                </a:solidFill>
              </a:rPr>
              <a:t>em fevereiro: o mês mais chuvoso desde 1972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336499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675"/>
                </a:solidFill>
              </a:rPr>
              <a:t>Agência Pública</a:t>
            </a:r>
            <a:endParaRPr lang="en-US" sz="1000" dirty="0"/>
          </a:p>
        </p:txBody>
      </p:sp>
      <p:sp>
        <p:nvSpPr>
          <p:cNvPr id="21" name="Card de número"/>
          <p:cNvSpPr/>
          <p:nvPr/>
        </p:nvSpPr>
        <p:spPr>
          <a:xfrm>
            <a:off x="6766560" y="1645920"/>
            <a:ext cx="1920240" cy="20574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22" name="Marcador"/>
          <p:cNvSpPr/>
          <p:nvPr/>
        </p:nvSpPr>
        <p:spPr>
          <a:xfrm>
            <a:off x="6949440" y="1847088"/>
            <a:ext cx="146304" cy="146304"/>
          </a:xfrm>
          <a:prstGeom prst="ellipse">
            <a:avLst/>
          </a:prstGeom>
          <a:solidFill>
            <a:srgbClr val="8C5A3C"/>
          </a:solidFill>
          <a:ln w="12700">
            <a:solidFill>
              <a:srgbClr val="8C5A3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49440" y="20574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C5A3C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128 mil</a:t>
            </a:r>
            <a:endParaRPr lang="en-US" sz="32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267004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3"/>
                </a:solidFill>
              </a:rPr>
              <a:t>pessoas vivem em áreas de risco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336499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675"/>
                </a:solidFill>
              </a:rPr>
              <a:t>MPF / Cemaden</a:t>
            </a:r>
            <a:endParaRPr lang="en-US" sz="1000" dirty="0"/>
          </a:p>
        </p:txBody>
      </p:sp>
      <p:sp>
        <p:nvSpPr>
          <p:cNvPr id="26" name="Faixa de contexto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pic>
        <p:nvPicPr>
          <p:cNvPr id="27" name="Image 0" descr="Atençã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114800"/>
            <a:ext cx="320040" cy="320040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1143000" y="3931920"/>
            <a:ext cx="7360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3"/>
                </a:solidFill>
              </a:rPr>
              <a:t>Não foi um caso isolado. </a:t>
            </a:r>
            <a:pPr indent="0" marL="0">
              <a:buNone/>
            </a:pPr>
            <a:r>
              <a:rPr lang="en-US" sz="1300" dirty="0">
                <a:solidFill>
                  <a:srgbClr val="1B2433"/>
                </a:solidFill>
              </a:rPr>
              <a:t>Juiz de Fora tem 142 áreas de risco geológico mapeadas pela Defesa Civil e é a 3ª cidade de Minas com mais áreas desse tipo.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da etapa"/>
          <p:cNvSpPr/>
          <p:nvPr/>
        </p:nvSpPr>
        <p:spPr>
          <a:xfrm>
            <a:off x="457200" y="25603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E2EBF0"/>
          </a:solidFill>
          <a:ln w="12700">
            <a:solidFill>
              <a:srgbClr val="E2EB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2E6F95"/>
                </a:solidFill>
              </a:rPr>
              <a:t>1 · IMERSÃO</a:t>
            </a:r>
            <a:endParaRPr lang="en-US" sz="10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33A"/>
                </a:solidFill>
              </a:rPr>
              <a:t>Desk research</a:t>
            </a:r>
            <a:endParaRPr lang="en-US" sz="3000" dirty="0"/>
          </a:p>
        </p:txBody>
      </p:sp>
      <p:sp>
        <p:nvSpPr>
          <p:cNvPr id="5" name="Linha de apoio"/>
          <p:cNvSpPr txBox="1"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Reportagens recentes sobre o caso. Clique em “ler” para abrir a matéria.</a:t>
            </a:r>
            <a:endParaRPr lang="en-US" sz="1300" dirty="0"/>
          </a:p>
        </p:txBody>
      </p:sp>
      <p:sp>
        <p:nvSpPr>
          <p:cNvPr id="6" name="Card de reportagem"/>
          <p:cNvSpPr/>
          <p:nvPr/>
        </p:nvSpPr>
        <p:spPr>
          <a:xfrm>
            <a:off x="457200" y="164592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pic>
        <p:nvPicPr>
          <p:cNvPr id="7" name="Image 0" descr="Jorn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01368"/>
            <a:ext cx="182880" cy="1828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176479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F95"/>
                </a:solidFill>
              </a:rPr>
              <a:t>A Pública</a:t>
            </a:r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</a:rPr>
              <a:t>  ·  mar. 2026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2468880" y="1764792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u="sng" dirty="0">
                <a:solidFill>
                  <a:srgbClr val="2E6F95"/>
                </a:solidFill>
                <a:hlinkClick r:id="rId2" invalidUrl="" action="" tgtFrame="" tooltip="Abrir reportage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ler ↗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21792" y="205740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Juiz de Fora tem 8 mil desabrigados pelas chuvas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21792" y="2560320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Moradores esperam laudo da Defesa Civil e encaram aluguel mais caro.</a:t>
            </a:r>
            <a:endParaRPr lang="en-US" sz="1100" dirty="0"/>
          </a:p>
        </p:txBody>
      </p:sp>
      <p:sp>
        <p:nvSpPr>
          <p:cNvPr id="12" name="Card de reportagem"/>
          <p:cNvSpPr/>
          <p:nvPr/>
        </p:nvSpPr>
        <p:spPr>
          <a:xfrm>
            <a:off x="3246120" y="164592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pic>
        <p:nvPicPr>
          <p:cNvPr id="13" name="Image 1" descr="Jorn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0712" y="1801368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57600" y="176479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F95"/>
                </a:solidFill>
              </a:rPr>
              <a:t>Gazeta Digital</a:t>
            </a:r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</a:rPr>
              <a:t>  ·  fev. 2026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5257800" y="1764792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u="sng" dirty="0">
                <a:solidFill>
                  <a:srgbClr val="2E6F95"/>
                </a:solidFill>
                <a:hlinkClick r:id="rId4" invalidUrl="" action="" tgtFrame="" tooltip="Abrir reportage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ler ↗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3410712" y="205740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Para sobreviventes, sistemas de alerta não funcionaram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3410712" y="2560320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No Jardim Parque Burnier, morador diz que não houve aviso nem sirene.</a:t>
            </a:r>
            <a:endParaRPr lang="en-US" sz="1100" dirty="0"/>
          </a:p>
        </p:txBody>
      </p:sp>
      <p:sp>
        <p:nvSpPr>
          <p:cNvPr id="18" name="Card de reportagem"/>
          <p:cNvSpPr/>
          <p:nvPr/>
        </p:nvSpPr>
        <p:spPr>
          <a:xfrm>
            <a:off x="6035040" y="164592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pic>
        <p:nvPicPr>
          <p:cNvPr id="19" name="Image 2" descr="Jorna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1801368"/>
            <a:ext cx="182880" cy="18288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46520" y="176479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F95"/>
                </a:solidFill>
              </a:rPr>
              <a:t>MPF</a:t>
            </a:r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</a:rPr>
              <a:t>  ·  2026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8046720" y="1764792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u="sng" dirty="0">
                <a:solidFill>
                  <a:srgbClr val="2E6F95"/>
                </a:solidFill>
                <a:hlinkClick r:id="rId6" invalidUrl="" action="" tgtFrame="" tooltip="Abrir reportage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ler ↗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6199632" y="205740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MPF apura falhas na prevenção e na resposta a desastres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6199632" y="2560320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Retirada preventiva não foi efetiva mesmo com alertas emitidos.</a:t>
            </a:r>
            <a:endParaRPr lang="en-US" sz="1100" dirty="0"/>
          </a:p>
        </p:txBody>
      </p:sp>
      <p:sp>
        <p:nvSpPr>
          <p:cNvPr id="24" name="Card de reportagem"/>
          <p:cNvSpPr/>
          <p:nvPr/>
        </p:nvSpPr>
        <p:spPr>
          <a:xfrm>
            <a:off x="457200" y="32004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pic>
        <p:nvPicPr>
          <p:cNvPr id="25" name="Image 3" descr="Jornal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3355848"/>
            <a:ext cx="182880" cy="18288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68680" y="331927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F95"/>
                </a:solidFill>
              </a:rPr>
              <a:t>Tribuna de Minas</a:t>
            </a:r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</a:rPr>
              <a:t>  ·  fev. 2026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621792" y="361188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Temporal expõe falhas em drenagem de diferentes vias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621792" y="4114800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50 mm em 40 minutos alagaram o Centro. Bueiros entupidos.</a:t>
            </a:r>
            <a:endParaRPr lang="en-US" sz="1100" dirty="0"/>
          </a:p>
        </p:txBody>
      </p:sp>
      <p:sp>
        <p:nvSpPr>
          <p:cNvPr id="29" name="Card de reportagem"/>
          <p:cNvSpPr/>
          <p:nvPr/>
        </p:nvSpPr>
        <p:spPr>
          <a:xfrm>
            <a:off x="3246120" y="32004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pic>
        <p:nvPicPr>
          <p:cNvPr id="30" name="Image 4" descr="Jornal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0712" y="3355848"/>
            <a:ext cx="182880" cy="18288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3657600" y="331927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F95"/>
                </a:solidFill>
              </a:rPr>
              <a:t>Acessa.com</a:t>
            </a:r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</a:rPr>
              <a:t>  ·  out. 2026</a:t>
            </a:r>
            <a:endParaRPr lang="en-US" sz="1050" dirty="0"/>
          </a:p>
        </p:txBody>
      </p:sp>
      <p:sp>
        <p:nvSpPr>
          <p:cNvPr id="32" name="Text 25"/>
          <p:cNvSpPr txBox="1"/>
          <p:nvPr/>
        </p:nvSpPr>
        <p:spPr>
          <a:xfrm>
            <a:off x="5257800" y="3319272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u="sng" dirty="0">
                <a:solidFill>
                  <a:srgbClr val="2E6F95"/>
                </a:solidFill>
                <a:hlinkClick r:id="rId9" invalidUrl="" action="" tgtFrame="" tooltip="Abrir reportage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ler ↗</a:t>
            </a:r>
            <a:endParaRPr lang="en-US" sz="1050" dirty="0"/>
          </a:p>
        </p:txBody>
      </p:sp>
      <p:sp>
        <p:nvSpPr>
          <p:cNvPr id="33" name="Text 26"/>
          <p:cNvSpPr txBox="1"/>
          <p:nvPr/>
        </p:nvSpPr>
        <p:spPr>
          <a:xfrm>
            <a:off x="3410712" y="361188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Chuvas intensas colocam JF em alerta para deslizamentos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3410712" y="4114800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Média de uma ocorrência por hora durante o temporal.</a:t>
            </a:r>
            <a:endParaRPr lang="en-US" sz="1100" dirty="0"/>
          </a:p>
        </p:txBody>
      </p:sp>
      <p:sp>
        <p:nvSpPr>
          <p:cNvPr id="35" name="Card de reportagem"/>
          <p:cNvSpPr/>
          <p:nvPr/>
        </p:nvSpPr>
        <p:spPr>
          <a:xfrm>
            <a:off x="6035040" y="32004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pic>
        <p:nvPicPr>
          <p:cNvPr id="36" name="Image 5" descr="Jornal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9632" y="3355848"/>
            <a:ext cx="182880" cy="18288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6446520" y="331927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F95"/>
                </a:solidFill>
              </a:rPr>
              <a:t>O Tempo</a:t>
            </a:r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</a:rPr>
              <a:t>  ·  out. 2026</a:t>
            </a:r>
            <a:endParaRPr lang="en-US" sz="1050" dirty="0"/>
          </a:p>
        </p:txBody>
      </p:sp>
      <p:sp>
        <p:nvSpPr>
          <p:cNvPr id="38" name="Text 30"/>
          <p:cNvSpPr txBox="1"/>
          <p:nvPr/>
        </p:nvSpPr>
        <p:spPr>
          <a:xfrm>
            <a:off x="8046720" y="3319272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u="sng" dirty="0">
                <a:solidFill>
                  <a:srgbClr val="2E6F95"/>
                </a:solidFill>
                <a:hlinkClick r:id="rId11" invalidUrl="" action="" tgtFrame="" tooltip="Abrir reportage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ler ↗</a:t>
            </a:r>
            <a:endParaRPr lang="en-US" sz="1050" dirty="0"/>
          </a:p>
        </p:txBody>
      </p:sp>
      <p:sp>
        <p:nvSpPr>
          <p:cNvPr id="39" name="Text 31"/>
          <p:cNvSpPr txBox="1"/>
          <p:nvPr/>
        </p:nvSpPr>
        <p:spPr>
          <a:xfrm>
            <a:off x="6199632" y="361188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JF em alerta vermelho para mais de 100 mm de chuva</a:t>
            </a:r>
            <a:endParaRPr lang="en-US" sz="1300" dirty="0"/>
          </a:p>
        </p:txBody>
      </p:sp>
      <p:sp>
        <p:nvSpPr>
          <p:cNvPr id="40" name="Text 32"/>
          <p:cNvSpPr txBox="1"/>
          <p:nvPr/>
        </p:nvSpPr>
        <p:spPr>
          <a:xfrm>
            <a:off x="6199632" y="4114800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Inmet aponta risco de grandes deslizamentos na cidade.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da etapa"/>
          <p:cNvSpPr/>
          <p:nvPr/>
        </p:nvSpPr>
        <p:spPr>
          <a:xfrm>
            <a:off x="457200" y="25603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E2EBF0"/>
          </a:solidFill>
          <a:ln w="12700">
            <a:solidFill>
              <a:srgbClr val="E2EB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2E6F95"/>
                </a:solidFill>
              </a:rPr>
              <a:t>1 · IMERSÃO</a:t>
            </a:r>
            <a:endParaRPr lang="en-US" sz="10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33A"/>
                </a:solidFill>
              </a:rPr>
              <a:t>O que já existe e onde falha</a:t>
            </a:r>
            <a:endParaRPr lang="en-US" sz="3000" dirty="0"/>
          </a:p>
        </p:txBody>
      </p:sp>
      <p:sp>
        <p:nvSpPr>
          <p:cNvPr id="5" name="Linha de apoio"/>
          <p:cNvSpPr txBox="1"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Achados sobre o mercado: os alertas que o morador de Juiz de Fora já pode receber hoje.</a:t>
            </a:r>
            <a:endParaRPr lang="en-US" sz="1300" dirty="0"/>
          </a:p>
        </p:txBody>
      </p:sp>
      <p:sp>
        <p:nvSpPr>
          <p:cNvPr id="6" name="Concorrente"/>
          <p:cNvSpPr/>
          <p:nvPr/>
        </p:nvSpPr>
        <p:spPr>
          <a:xfrm>
            <a:off x="457200" y="1627632"/>
            <a:ext cx="1920240" cy="221284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7" name="Círculo do ícone"/>
          <p:cNvSpPr/>
          <p:nvPr/>
        </p:nvSpPr>
        <p:spPr>
          <a:xfrm>
            <a:off x="621792" y="1792224"/>
            <a:ext cx="420624" cy="420624"/>
          </a:xfrm>
          <a:prstGeom prst="ellipse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pic>
        <p:nvPicPr>
          <p:cNvPr id="8" name="Image 0" descr="FaSm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360" y="1905792"/>
            <a:ext cx="193487" cy="19348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15568" y="175564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SMS 40199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</a:rPr>
              <a:t>Defesa Civil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21792" y="2359152"/>
            <a:ext cx="1591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33"/>
                </a:solidFill>
              </a:rPr>
              <a:t>Cadastro pelo CEP. Mensagem curta, gratuita.</a:t>
            </a:r>
            <a:endParaRPr lang="en-US" sz="1100" dirty="0"/>
          </a:p>
        </p:txBody>
      </p:sp>
      <p:sp>
        <p:nvSpPr>
          <p:cNvPr id="11" name="Lacuna"/>
          <p:cNvSpPr/>
          <p:nvPr/>
        </p:nvSpPr>
        <p:spPr>
          <a:xfrm>
            <a:off x="548640" y="3044952"/>
            <a:ext cx="1737360" cy="713232"/>
          </a:xfrm>
          <a:prstGeom prst="roundRect">
            <a:avLst>
              <a:gd name="adj" fmla="val 7692"/>
            </a:avLst>
          </a:prstGeom>
          <a:solidFill>
            <a:srgbClr val="FAECEC"/>
          </a:solidFill>
          <a:ln w="12700">
            <a:solidFill>
              <a:srgbClr val="FAEC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044952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453C"/>
                </a:solidFill>
              </a:rPr>
              <a:t>Só chega para quem se cadastrou, e o texto é igual para a região.</a:t>
            </a:r>
            <a:endParaRPr lang="en-US" sz="1050" dirty="0"/>
          </a:p>
        </p:txBody>
      </p:sp>
      <p:sp>
        <p:nvSpPr>
          <p:cNvPr id="13" name="Concorrente"/>
          <p:cNvSpPr/>
          <p:nvPr/>
        </p:nvSpPr>
        <p:spPr>
          <a:xfrm>
            <a:off x="2560320" y="1627632"/>
            <a:ext cx="1920240" cy="221284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14" name="Círculo do ícone"/>
          <p:cNvSpPr/>
          <p:nvPr/>
        </p:nvSpPr>
        <p:spPr>
          <a:xfrm>
            <a:off x="2724912" y="1792224"/>
            <a:ext cx="420624" cy="420624"/>
          </a:xfrm>
          <a:prstGeom prst="ellipse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pic>
        <p:nvPicPr>
          <p:cNvPr id="15" name="Image 1" descr="FaBroadcastTow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480" y="1905792"/>
            <a:ext cx="193487" cy="19348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218688" y="175564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Defesa Civil Alerta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</a:rPr>
              <a:t>cell broadcast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2724912" y="2359152"/>
            <a:ext cx="1591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33"/>
                </a:solidFill>
              </a:rPr>
              <a:t>Toca no celular sem cadastro. MG: 418 alertas no 1º sem. de 2026.</a:t>
            </a:r>
            <a:endParaRPr lang="en-US" sz="1100" dirty="0"/>
          </a:p>
        </p:txBody>
      </p:sp>
      <p:sp>
        <p:nvSpPr>
          <p:cNvPr id="18" name="Lacuna"/>
          <p:cNvSpPr/>
          <p:nvPr/>
        </p:nvSpPr>
        <p:spPr>
          <a:xfrm>
            <a:off x="2651760" y="3044952"/>
            <a:ext cx="1737360" cy="713232"/>
          </a:xfrm>
          <a:prstGeom prst="roundRect">
            <a:avLst>
              <a:gd name="adj" fmla="val 7692"/>
            </a:avLst>
          </a:prstGeom>
          <a:solidFill>
            <a:srgbClr val="FAECEC"/>
          </a:solidFill>
          <a:ln w="12700">
            <a:solidFill>
              <a:srgbClr val="FAECEC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2743200" y="3044952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453C"/>
                </a:solidFill>
              </a:rPr>
              <a:t>Vale para a área toda: não diz qual rua ou encosta corre risco.</a:t>
            </a:r>
            <a:endParaRPr lang="en-US" sz="1050" dirty="0"/>
          </a:p>
        </p:txBody>
      </p:sp>
      <p:sp>
        <p:nvSpPr>
          <p:cNvPr id="20" name="Concorrente"/>
          <p:cNvSpPr/>
          <p:nvPr/>
        </p:nvSpPr>
        <p:spPr>
          <a:xfrm>
            <a:off x="4663440" y="1627632"/>
            <a:ext cx="1920240" cy="221284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21" name="Círculo do ícone"/>
          <p:cNvSpPr/>
          <p:nvPr/>
        </p:nvSpPr>
        <p:spPr>
          <a:xfrm>
            <a:off x="4828032" y="1792224"/>
            <a:ext cx="420624" cy="420624"/>
          </a:xfrm>
          <a:prstGeom prst="ellipse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pic>
        <p:nvPicPr>
          <p:cNvPr id="22" name="Image 2" descr="FaChartLi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1600" y="1905792"/>
            <a:ext cx="193487" cy="193487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321808" y="175564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Cemaden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</a:rPr>
              <a:t>monitoramento federal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4828032" y="2359152"/>
            <a:ext cx="1591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33"/>
                </a:solidFill>
              </a:rPr>
              <a:t>Pluviômetros e alertas para os órgãos públicos.</a:t>
            </a:r>
            <a:endParaRPr lang="en-US" sz="1100" dirty="0"/>
          </a:p>
        </p:txBody>
      </p:sp>
      <p:sp>
        <p:nvSpPr>
          <p:cNvPr id="25" name="Lacuna"/>
          <p:cNvSpPr/>
          <p:nvPr/>
        </p:nvSpPr>
        <p:spPr>
          <a:xfrm>
            <a:off x="4754880" y="3044952"/>
            <a:ext cx="1737360" cy="713232"/>
          </a:xfrm>
          <a:prstGeom prst="roundRect">
            <a:avLst>
              <a:gd name="adj" fmla="val 7692"/>
            </a:avLst>
          </a:prstGeom>
          <a:solidFill>
            <a:srgbClr val="FAECEC"/>
          </a:solidFill>
          <a:ln w="12700">
            <a:solidFill>
              <a:srgbClr val="FAECEC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4846320" y="3044952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453C"/>
                </a:solidFill>
              </a:rPr>
              <a:t>Não fala direto com o morador nem mede cada encosta.</a:t>
            </a:r>
            <a:endParaRPr lang="en-US" sz="1050" dirty="0"/>
          </a:p>
        </p:txBody>
      </p:sp>
      <p:sp>
        <p:nvSpPr>
          <p:cNvPr id="27" name="Concorrente"/>
          <p:cNvSpPr/>
          <p:nvPr/>
        </p:nvSpPr>
        <p:spPr>
          <a:xfrm>
            <a:off x="6766560" y="1627632"/>
            <a:ext cx="1920240" cy="221284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28" name="Círculo do ícone"/>
          <p:cNvSpPr/>
          <p:nvPr/>
        </p:nvSpPr>
        <p:spPr>
          <a:xfrm>
            <a:off x="6931152" y="1792224"/>
            <a:ext cx="420624" cy="420624"/>
          </a:xfrm>
          <a:prstGeom prst="ellipse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pic>
        <p:nvPicPr>
          <p:cNvPr id="29" name="Image 3" descr="FaCloudSunRai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4720" y="1905792"/>
            <a:ext cx="193487" cy="193487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7424928" y="175564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Apps de previsão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</a:rPr>
              <a:t>clima e tempo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6931152" y="2359152"/>
            <a:ext cx="1591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33"/>
                </a:solidFill>
              </a:rPr>
              <a:t>Mostram chance e volume de chuva por bairro.</a:t>
            </a:r>
            <a:endParaRPr lang="en-US" sz="1100" dirty="0"/>
          </a:p>
        </p:txBody>
      </p:sp>
      <p:sp>
        <p:nvSpPr>
          <p:cNvPr id="32" name="Lacuna"/>
          <p:cNvSpPr/>
          <p:nvPr/>
        </p:nvSpPr>
        <p:spPr>
          <a:xfrm>
            <a:off x="6858000" y="3044952"/>
            <a:ext cx="1737360" cy="713232"/>
          </a:xfrm>
          <a:prstGeom prst="roundRect">
            <a:avLst>
              <a:gd name="adj" fmla="val 7692"/>
            </a:avLst>
          </a:prstGeom>
          <a:solidFill>
            <a:srgbClr val="FAECEC"/>
          </a:solidFill>
          <a:ln w="12700">
            <a:solidFill>
              <a:srgbClr val="FAECEC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6949440" y="3044952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453C"/>
                </a:solidFill>
              </a:rPr>
              <a:t>Dizem quanto vai chover, não o que isso significa para a sua casa.</a:t>
            </a:r>
            <a:endParaRPr lang="en-US" sz="1050" dirty="0"/>
          </a:p>
        </p:txBody>
      </p:sp>
      <p:sp>
        <p:nvSpPr>
          <p:cNvPr id="34" name="Oportunidade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13233A"/>
          </a:solidFill>
          <a:ln w="9525">
            <a:solidFill>
              <a:srgbClr val="13233A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685800" y="40233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2F"/>
                </a:solidFill>
              </a:rPr>
              <a:t>Oportunidade: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um aviso com o nome da rua, no WhatsApp que o morador já usa, e depois com dado medido na própria encosta.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da etapa"/>
          <p:cNvSpPr/>
          <p:nvPr/>
        </p:nvSpPr>
        <p:spPr>
          <a:xfrm>
            <a:off x="457200" y="25603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E2EBF0"/>
          </a:solidFill>
          <a:ln w="12700">
            <a:solidFill>
              <a:srgbClr val="E2EB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2E6F95"/>
                </a:solidFill>
              </a:rPr>
              <a:t>1 · IMERSÃO</a:t>
            </a:r>
            <a:endParaRPr lang="en-US" sz="10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33A"/>
                </a:solidFill>
              </a:rPr>
              <a:t>Entrevista: o que ouvimos da banca</a:t>
            </a:r>
            <a:endParaRPr lang="en-US" sz="3000" dirty="0"/>
          </a:p>
        </p:txBody>
      </p:sp>
      <p:sp>
        <p:nvSpPr>
          <p:cNvPr id="5" name="Linha de apoio"/>
          <p:cNvSpPr txBox="1"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Retorno de Anderson Rezende, convidado do pitch, e da professora (29/10/2026).</a:t>
            </a:r>
            <a:endParaRPr lang="en-US" sz="1300" dirty="0"/>
          </a:p>
        </p:txBody>
      </p:sp>
      <p:sp>
        <p:nvSpPr>
          <p:cNvPr id="6" name="Entrevistado"/>
          <p:cNvSpPr/>
          <p:nvPr/>
        </p:nvSpPr>
        <p:spPr>
          <a:xfrm>
            <a:off x="457200" y="1627632"/>
            <a:ext cx="2606040" cy="2990088"/>
          </a:xfrm>
          <a:prstGeom prst="roundRect">
            <a:avLst>
              <a:gd name="adj" fmla="val 3509"/>
            </a:avLst>
          </a:prstGeom>
          <a:solidFill>
            <a:srgbClr val="13233A"/>
          </a:solidFill>
          <a:ln w="9525">
            <a:solidFill>
              <a:srgbClr val="13233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7" name="Círculo do ícone"/>
          <p:cNvSpPr/>
          <p:nvPr/>
        </p:nvSpPr>
        <p:spPr>
          <a:xfrm>
            <a:off x="685800" y="1828800"/>
            <a:ext cx="640080" cy="64008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pic>
        <p:nvPicPr>
          <p:cNvPr id="8" name="Image 0" descr="FaUserTi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622" y="2001622"/>
            <a:ext cx="294437" cy="29443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2578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Anderson Rezende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3F5"/>
                </a:solidFill>
              </a:rPr>
              <a:t>Convidado da banca do pitch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24612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“Órgão público tem dificuldade de gastar. Comecem pela comunicação, sem depender de hardware no primeiro passo.”</a:t>
            </a:r>
            <a:endParaRPr lang="en-US" sz="1200" dirty="0"/>
          </a:p>
        </p:txBody>
      </p:sp>
      <p:sp>
        <p:nvSpPr>
          <p:cNvPr id="12" name="Achado da entrevista"/>
          <p:cNvSpPr/>
          <p:nvPr/>
        </p:nvSpPr>
        <p:spPr>
          <a:xfrm>
            <a:off x="3246120" y="1627632"/>
            <a:ext cx="26517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13" name="Círculo do ícone"/>
          <p:cNvSpPr/>
          <p:nvPr/>
        </p:nvSpPr>
        <p:spPr>
          <a:xfrm>
            <a:off x="3383280" y="1764792"/>
            <a:ext cx="365760" cy="365760"/>
          </a:xfrm>
          <a:prstGeom prst="ellipse">
            <a:avLst/>
          </a:prstGeom>
          <a:solidFill>
            <a:srgbClr val="4F9D69"/>
          </a:solidFill>
          <a:ln w="12700">
            <a:solidFill>
              <a:srgbClr val="4F9D69"/>
            </a:solidFill>
            <a:prstDash val="solid"/>
          </a:ln>
        </p:spPr>
      </p:sp>
      <p:pic>
        <p:nvPicPr>
          <p:cNvPr id="14" name="Image 1" descr="FaWhatsap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2035" y="1863547"/>
            <a:ext cx="168250" cy="16825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840480" y="173736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33A"/>
                </a:solidFill>
              </a:rPr>
              <a:t>Começar pelo WhatsApp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3383280" y="2194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33"/>
                </a:solidFill>
              </a:rPr>
              <a:t>Canal que o morador já usa: informação e contato desde o primeiro dia.</a:t>
            </a:r>
            <a:endParaRPr lang="en-US" sz="1050" dirty="0"/>
          </a:p>
        </p:txBody>
      </p:sp>
      <p:sp>
        <p:nvSpPr>
          <p:cNvPr id="17" name="Achado da entrevista"/>
          <p:cNvSpPr/>
          <p:nvPr/>
        </p:nvSpPr>
        <p:spPr>
          <a:xfrm>
            <a:off x="6035040" y="1627632"/>
            <a:ext cx="26517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18" name="Círculo do ícone"/>
          <p:cNvSpPr/>
          <p:nvPr/>
        </p:nvSpPr>
        <p:spPr>
          <a:xfrm>
            <a:off x="6172200" y="1764792"/>
            <a:ext cx="365760" cy="365760"/>
          </a:xfrm>
          <a:prstGeom prst="ellipse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pic>
        <p:nvPicPr>
          <p:cNvPr id="19" name="Image 2" descr="FaRobo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955" y="1863547"/>
            <a:ext cx="168250" cy="16825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629400" y="173736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33A"/>
                </a:solidFill>
              </a:rPr>
              <a:t>IA + APIs de clima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6172200" y="2194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33"/>
                </a:solidFill>
              </a:rPr>
              <a:t>Cruzar previsão do tempo e outras APIs para gerar o aviso certo.</a:t>
            </a:r>
            <a:endParaRPr lang="en-US" sz="1050" dirty="0"/>
          </a:p>
        </p:txBody>
      </p:sp>
      <p:sp>
        <p:nvSpPr>
          <p:cNvPr id="22" name="Achado da entrevista"/>
          <p:cNvSpPr/>
          <p:nvPr/>
        </p:nvSpPr>
        <p:spPr>
          <a:xfrm>
            <a:off x="3246120" y="2834640"/>
            <a:ext cx="26517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23" name="Círculo do ícone"/>
          <p:cNvSpPr/>
          <p:nvPr/>
        </p:nvSpPr>
        <p:spPr>
          <a:xfrm>
            <a:off x="3383280" y="2971800"/>
            <a:ext cx="365760" cy="365760"/>
          </a:xfrm>
          <a:prstGeom prst="ellipse">
            <a:avLst/>
          </a:prstGeom>
          <a:solidFill>
            <a:srgbClr val="8C5A3C"/>
          </a:solidFill>
          <a:ln w="12700">
            <a:solidFill>
              <a:srgbClr val="8C5A3C"/>
            </a:solidFill>
            <a:prstDash val="solid"/>
          </a:ln>
        </p:spPr>
      </p:sp>
      <p:pic>
        <p:nvPicPr>
          <p:cNvPr id="24" name="Image 3" descr="FaTool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2035" y="3070555"/>
            <a:ext cx="168250" cy="16825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3840480" y="2944368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33A"/>
                </a:solidFill>
              </a:rPr>
              <a:t>Hardware em paralelo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3383280" y="34015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33"/>
                </a:solidFill>
              </a:rPr>
              <a:t>Instalar sensores aos poucos, aumentando a segurança a cada fase.</a:t>
            </a:r>
            <a:endParaRPr lang="en-US" sz="1050" dirty="0"/>
          </a:p>
        </p:txBody>
      </p:sp>
      <p:sp>
        <p:nvSpPr>
          <p:cNvPr id="27" name="Achado da entrevista"/>
          <p:cNvSpPr/>
          <p:nvPr/>
        </p:nvSpPr>
        <p:spPr>
          <a:xfrm>
            <a:off x="6035040" y="2834640"/>
            <a:ext cx="26517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28" name="Círculo do ícone"/>
          <p:cNvSpPr/>
          <p:nvPr/>
        </p:nvSpPr>
        <p:spPr>
          <a:xfrm>
            <a:off x="6172200" y="2971800"/>
            <a:ext cx="365760" cy="365760"/>
          </a:xfrm>
          <a:prstGeom prst="ellipse">
            <a:avLst/>
          </a:prstGeom>
          <a:solidFill>
            <a:srgbClr val="C8453C"/>
          </a:solidFill>
          <a:ln w="12700">
            <a:solidFill>
              <a:srgbClr val="C8453C"/>
            </a:solidFill>
            <a:prstDash val="solid"/>
          </a:ln>
        </p:spPr>
      </p:sp>
      <p:pic>
        <p:nvPicPr>
          <p:cNvPr id="29" name="Image 4" descr="FaEyeSlas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0955" y="3070555"/>
            <a:ext cx="168250" cy="16825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629400" y="2944368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33A"/>
                </a:solidFill>
              </a:rPr>
              <a:t>Ocultar valores por enquanto</a:t>
            </a:r>
            <a:endParaRPr lang="en-US" sz="1250" dirty="0"/>
          </a:p>
        </p:txBody>
      </p:sp>
      <p:sp>
        <p:nvSpPr>
          <p:cNvPr id="31" name="Text 24"/>
          <p:cNvSpPr txBox="1"/>
          <p:nvPr/>
        </p:nvSpPr>
        <p:spPr>
          <a:xfrm>
            <a:off x="6172200" y="34015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33"/>
                </a:solidFill>
              </a:rPr>
              <a:t>Deixar o custo de fora nesta etapa e focar no problema e na solução.</a:t>
            </a:r>
            <a:endParaRPr lang="en-US" sz="1050" dirty="0"/>
          </a:p>
        </p:txBody>
      </p:sp>
      <p:sp>
        <p:nvSpPr>
          <p:cNvPr id="32" name="Destaque"/>
          <p:cNvSpPr/>
          <p:nvPr/>
        </p:nvSpPr>
        <p:spPr>
          <a:xfrm>
            <a:off x="3246120" y="4050792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E5F0E9"/>
          </a:solidFill>
          <a:ln w="9525">
            <a:solidFill>
              <a:srgbClr val="E5F0E9"/>
            </a:solidFill>
            <a:prstDash val="solid"/>
          </a:ln>
        </p:spPr>
      </p:sp>
      <p:pic>
        <p:nvPicPr>
          <p:cNvPr id="33" name="Image 5" descr="Destaqu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0712" y="4206240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3776472" y="4050792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9D69"/>
                </a:solidFill>
              </a:rPr>
              <a:t>Ponto forte:  </a:t>
            </a:r>
            <a:pPr indent="0" marL="0">
              <a:buNone/>
            </a:pPr>
            <a:r>
              <a:rPr lang="en-US" sz="1200" dirty="0">
                <a:solidFill>
                  <a:srgbClr val="13233A"/>
                </a:solidFill>
              </a:rPr>
              <a:t>trazer hardware foi visto como inovador; nenhum outro time tinha essa etapa.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da etapa"/>
          <p:cNvSpPr/>
          <p:nvPr/>
        </p:nvSpPr>
        <p:spPr>
          <a:xfrm>
            <a:off x="457200" y="25603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E2EBF0"/>
          </a:solidFill>
          <a:ln w="12700">
            <a:solidFill>
              <a:srgbClr val="E2EB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2E6F95"/>
                </a:solidFill>
              </a:rPr>
              <a:t>1 · IMERSÃO</a:t>
            </a:r>
            <a:endParaRPr lang="en-US" sz="10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33A"/>
                </a:solidFill>
              </a:rPr>
              <a:t>Mapeamento de stakeholders</a:t>
            </a:r>
            <a:endParaRPr lang="en-US" sz="3000" dirty="0"/>
          </a:p>
        </p:txBody>
      </p:sp>
      <p:sp>
        <p:nvSpPr>
          <p:cNvPr id="5" name="Linha de apoio"/>
          <p:cNvSpPr txBox="1"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Quem é afetado pelas chuvas e quem precisa agir.</a:t>
            </a:r>
            <a:endParaRPr lang="en-US" sz="1300" dirty="0"/>
          </a:p>
        </p:txBody>
      </p:sp>
      <p:sp>
        <p:nvSpPr>
          <p:cNvPr id="6" name="Coluna de stakeholders"/>
          <p:cNvSpPr/>
          <p:nvPr/>
        </p:nvSpPr>
        <p:spPr>
          <a:xfrm>
            <a:off x="457200" y="1645920"/>
            <a:ext cx="2651760" cy="2999232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7" name="Cabeçalho do grupo"/>
          <p:cNvSpPr/>
          <p:nvPr/>
        </p:nvSpPr>
        <p:spPr>
          <a:xfrm>
            <a:off x="594360" y="17830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F7E5E4"/>
          </a:solidFill>
          <a:ln w="12700">
            <a:solidFill>
              <a:srgbClr val="F7E5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453C"/>
                </a:solidFill>
              </a:rPr>
              <a:t>Afetados diretamente</a:t>
            </a:r>
            <a:endParaRPr lang="en-US" sz="1300" dirty="0"/>
          </a:p>
        </p:txBody>
      </p:sp>
      <p:sp>
        <p:nvSpPr>
          <p:cNvPr id="9" name="Círculo do ícone"/>
          <p:cNvSpPr/>
          <p:nvPr/>
        </p:nvSpPr>
        <p:spPr>
          <a:xfrm>
            <a:off x="640080" y="2304288"/>
            <a:ext cx="384048" cy="384048"/>
          </a:xfrm>
          <a:prstGeom prst="ellipse">
            <a:avLst/>
          </a:prstGeom>
          <a:solidFill>
            <a:srgbClr val="C8453C"/>
          </a:solidFill>
          <a:ln w="12700">
            <a:solidFill>
              <a:srgbClr val="C8453C"/>
            </a:solidFill>
            <a:prstDash val="solid"/>
          </a:ln>
        </p:spPr>
      </p:sp>
      <p:pic>
        <p:nvPicPr>
          <p:cNvPr id="10" name="Image 0" descr="FaMounta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773" y="2407981"/>
            <a:ext cx="176662" cy="17666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43000" y="224942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Moradores de encosta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128 mil vivem em área de risco</a:t>
            </a:r>
            <a:endParaRPr lang="en-US" sz="1300" dirty="0"/>
          </a:p>
        </p:txBody>
      </p:sp>
      <p:sp>
        <p:nvSpPr>
          <p:cNvPr id="12" name="Círculo do ícone"/>
          <p:cNvSpPr/>
          <p:nvPr/>
        </p:nvSpPr>
        <p:spPr>
          <a:xfrm>
            <a:off x="640080" y="2880360"/>
            <a:ext cx="384048" cy="384048"/>
          </a:xfrm>
          <a:prstGeom prst="ellipse">
            <a:avLst/>
          </a:prstGeom>
          <a:solidFill>
            <a:srgbClr val="C8453C"/>
          </a:solidFill>
          <a:ln w="12700">
            <a:solidFill>
              <a:srgbClr val="C8453C"/>
            </a:solidFill>
            <a:prstDash val="solid"/>
          </a:ln>
        </p:spPr>
      </p:sp>
      <p:pic>
        <p:nvPicPr>
          <p:cNvPr id="13" name="Image 1" descr="FaHouseDam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73" y="2984053"/>
            <a:ext cx="176662" cy="17666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43000" y="28254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Famílias desabrigadas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8.854 pessoas fora de casa</a:t>
            </a:r>
            <a:endParaRPr lang="en-US" sz="1300" dirty="0"/>
          </a:p>
        </p:txBody>
      </p:sp>
      <p:sp>
        <p:nvSpPr>
          <p:cNvPr id="15" name="Círculo do ícone"/>
          <p:cNvSpPr/>
          <p:nvPr/>
        </p:nvSpPr>
        <p:spPr>
          <a:xfrm>
            <a:off x="640080" y="3456432"/>
            <a:ext cx="384048" cy="384048"/>
          </a:xfrm>
          <a:prstGeom prst="ellipse">
            <a:avLst/>
          </a:prstGeom>
          <a:solidFill>
            <a:srgbClr val="C8453C"/>
          </a:solidFill>
          <a:ln w="12700">
            <a:solidFill>
              <a:srgbClr val="C8453C"/>
            </a:solidFill>
            <a:prstDash val="solid"/>
          </a:ln>
        </p:spPr>
      </p:sp>
      <p:pic>
        <p:nvPicPr>
          <p:cNvPr id="16" name="Image 2" descr="FaHea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73" y="3560125"/>
            <a:ext cx="176662" cy="17666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43000" y="34015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Vítimas e sobreviventes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forte impacto emocional</a:t>
            </a:r>
            <a:endParaRPr lang="en-US" sz="1300" dirty="0"/>
          </a:p>
        </p:txBody>
      </p:sp>
      <p:sp>
        <p:nvSpPr>
          <p:cNvPr id="18" name="Círculo do ícone"/>
          <p:cNvSpPr/>
          <p:nvPr/>
        </p:nvSpPr>
        <p:spPr>
          <a:xfrm>
            <a:off x="640080" y="4032504"/>
            <a:ext cx="384048" cy="384048"/>
          </a:xfrm>
          <a:prstGeom prst="ellipse">
            <a:avLst/>
          </a:prstGeom>
          <a:solidFill>
            <a:srgbClr val="C8453C"/>
          </a:solidFill>
          <a:ln w="12700">
            <a:solidFill>
              <a:srgbClr val="C8453C"/>
            </a:solidFill>
            <a:prstDash val="solid"/>
          </a:ln>
        </p:spPr>
      </p:sp>
      <p:pic>
        <p:nvPicPr>
          <p:cNvPr id="19" name="Image 3" descr="FaStor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773" y="4136197"/>
            <a:ext cx="176662" cy="17666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143000" y="3977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Comerciantes do Centro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lojas alagam a cada temporal</a:t>
            </a:r>
            <a:endParaRPr lang="en-US" sz="1300" dirty="0"/>
          </a:p>
        </p:txBody>
      </p:sp>
      <p:sp>
        <p:nvSpPr>
          <p:cNvPr id="21" name="Coluna de stakeholders"/>
          <p:cNvSpPr/>
          <p:nvPr/>
        </p:nvSpPr>
        <p:spPr>
          <a:xfrm>
            <a:off x="3246120" y="1645920"/>
            <a:ext cx="2651760" cy="2999232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22" name="Cabeçalho do grupo"/>
          <p:cNvSpPr/>
          <p:nvPr/>
        </p:nvSpPr>
        <p:spPr>
          <a:xfrm>
            <a:off x="3383280" y="17830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2EBF0"/>
          </a:solidFill>
          <a:ln w="12700">
            <a:solidFill>
              <a:srgbClr val="E2EBF0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3383280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6F95"/>
                </a:solidFill>
              </a:rPr>
              <a:t>Poder público</a:t>
            </a:r>
            <a:endParaRPr lang="en-US" sz="1300" dirty="0"/>
          </a:p>
        </p:txBody>
      </p:sp>
      <p:sp>
        <p:nvSpPr>
          <p:cNvPr id="24" name="Círculo do ícone"/>
          <p:cNvSpPr/>
          <p:nvPr/>
        </p:nvSpPr>
        <p:spPr>
          <a:xfrm>
            <a:off x="3429000" y="2304288"/>
            <a:ext cx="384048" cy="384048"/>
          </a:xfrm>
          <a:prstGeom prst="ellipse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pic>
        <p:nvPicPr>
          <p:cNvPr id="25" name="Image 4" descr="FaShieldAl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2693" y="2407981"/>
            <a:ext cx="176662" cy="17666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3931920" y="224942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Defesa Civil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alertas, vistorias e laudos</a:t>
            </a:r>
            <a:endParaRPr lang="en-US" sz="1300" dirty="0"/>
          </a:p>
        </p:txBody>
      </p:sp>
      <p:sp>
        <p:nvSpPr>
          <p:cNvPr id="27" name="Círculo do ícone"/>
          <p:cNvSpPr/>
          <p:nvPr/>
        </p:nvSpPr>
        <p:spPr>
          <a:xfrm>
            <a:off x="3429000" y="2880360"/>
            <a:ext cx="384048" cy="384048"/>
          </a:xfrm>
          <a:prstGeom prst="ellipse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pic>
        <p:nvPicPr>
          <p:cNvPr id="28" name="Image 5" descr="FaHardHa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2693" y="2984053"/>
            <a:ext cx="176662" cy="176662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3931920" y="28254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Secretaria de Obras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limpeza das bocas de lobo</a:t>
            </a:r>
            <a:endParaRPr lang="en-US" sz="1300" dirty="0"/>
          </a:p>
        </p:txBody>
      </p:sp>
      <p:sp>
        <p:nvSpPr>
          <p:cNvPr id="30" name="Círculo do ícone"/>
          <p:cNvSpPr/>
          <p:nvPr/>
        </p:nvSpPr>
        <p:spPr>
          <a:xfrm>
            <a:off x="3429000" y="3456432"/>
            <a:ext cx="384048" cy="384048"/>
          </a:xfrm>
          <a:prstGeom prst="ellipse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pic>
        <p:nvPicPr>
          <p:cNvPr id="31" name="Image 6" descr="FaBalanceScal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2693" y="3560125"/>
            <a:ext cx="176662" cy="176662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3931920" y="34015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Ministério Público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fiscaliza prevenção e resposta</a:t>
            </a:r>
            <a:endParaRPr lang="en-US" sz="1300" dirty="0"/>
          </a:p>
        </p:txBody>
      </p:sp>
      <p:sp>
        <p:nvSpPr>
          <p:cNvPr id="33" name="Círculo do ícone"/>
          <p:cNvSpPr/>
          <p:nvPr/>
        </p:nvSpPr>
        <p:spPr>
          <a:xfrm>
            <a:off x="3429000" y="4032504"/>
            <a:ext cx="384048" cy="384048"/>
          </a:xfrm>
          <a:prstGeom prst="ellipse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pic>
        <p:nvPicPr>
          <p:cNvPr id="34" name="Image 7" descr="FaChartLin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32693" y="4136197"/>
            <a:ext cx="176662" cy="176662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3931920" y="3977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Cemaden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monitora as áreas de risco</a:t>
            </a:r>
            <a:endParaRPr lang="en-US" sz="1300" dirty="0"/>
          </a:p>
        </p:txBody>
      </p:sp>
      <p:sp>
        <p:nvSpPr>
          <p:cNvPr id="36" name="Coluna de stakeholders"/>
          <p:cNvSpPr/>
          <p:nvPr/>
        </p:nvSpPr>
        <p:spPr>
          <a:xfrm>
            <a:off x="6035040" y="1645920"/>
            <a:ext cx="2651760" cy="2999232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37" name="Cabeçalho do grupo"/>
          <p:cNvSpPr/>
          <p:nvPr/>
        </p:nvSpPr>
        <p:spPr>
          <a:xfrm>
            <a:off x="6172200" y="17830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FBECE2"/>
          </a:solidFill>
          <a:ln w="12700">
            <a:solidFill>
              <a:srgbClr val="FBECE2"/>
            </a:solidFill>
            <a:prstDash val="solid"/>
          </a:ln>
        </p:spPr>
      </p:sp>
      <p:sp>
        <p:nvSpPr>
          <p:cNvPr id="38" name="Text 28"/>
          <p:cNvSpPr txBox="1"/>
          <p:nvPr/>
        </p:nvSpPr>
        <p:spPr>
          <a:xfrm>
            <a:off x="6172200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7A2F"/>
                </a:solidFill>
              </a:rPr>
              <a:t>Rede de apoio e mercado</a:t>
            </a:r>
            <a:endParaRPr lang="en-US" sz="1300" dirty="0"/>
          </a:p>
        </p:txBody>
      </p:sp>
      <p:sp>
        <p:nvSpPr>
          <p:cNvPr id="39" name="Círculo do ícone"/>
          <p:cNvSpPr/>
          <p:nvPr/>
        </p:nvSpPr>
        <p:spPr>
          <a:xfrm>
            <a:off x="6217920" y="2304288"/>
            <a:ext cx="384048" cy="384048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pic>
        <p:nvPicPr>
          <p:cNvPr id="40" name="Image 8" descr="FaSchool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1613" y="2407981"/>
            <a:ext cx="176662" cy="176662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6720840" y="224942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Escolas-abrigo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14 escolas viraram abrigo</a:t>
            </a:r>
            <a:endParaRPr lang="en-US" sz="1300" dirty="0"/>
          </a:p>
        </p:txBody>
      </p:sp>
      <p:sp>
        <p:nvSpPr>
          <p:cNvPr id="42" name="Círculo do ícone"/>
          <p:cNvSpPr/>
          <p:nvPr/>
        </p:nvSpPr>
        <p:spPr>
          <a:xfrm>
            <a:off x="6217920" y="2880360"/>
            <a:ext cx="384048" cy="384048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pic>
        <p:nvPicPr>
          <p:cNvPr id="43" name="Image 9" descr="FaHandsHelpi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1613" y="2984053"/>
            <a:ext cx="176662" cy="176662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6720840" y="28254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Voluntários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redes de apoio popular</a:t>
            </a:r>
            <a:endParaRPr lang="en-US" sz="1300" dirty="0"/>
          </a:p>
        </p:txBody>
      </p:sp>
      <p:sp>
        <p:nvSpPr>
          <p:cNvPr id="45" name="Círculo do ícone"/>
          <p:cNvSpPr/>
          <p:nvPr/>
        </p:nvSpPr>
        <p:spPr>
          <a:xfrm>
            <a:off x="6217920" y="3456432"/>
            <a:ext cx="384048" cy="384048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pic>
        <p:nvPicPr>
          <p:cNvPr id="46" name="Image 10" descr="FaKey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1613" y="3560125"/>
            <a:ext cx="176662" cy="176662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6720840" y="34015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Locatários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aluguel subiu após a tragédia</a:t>
            </a:r>
            <a:endParaRPr lang="en-US" sz="1300" dirty="0"/>
          </a:p>
        </p:txBody>
      </p:sp>
      <p:sp>
        <p:nvSpPr>
          <p:cNvPr id="48" name="Círculo do ícone"/>
          <p:cNvSpPr/>
          <p:nvPr/>
        </p:nvSpPr>
        <p:spPr>
          <a:xfrm>
            <a:off x="6217920" y="4032504"/>
            <a:ext cx="384048" cy="384048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pic>
        <p:nvPicPr>
          <p:cNvPr id="49" name="Image 11" descr="FaUserFriends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1613" y="4136197"/>
            <a:ext cx="176662" cy="176662"/>
          </a:xfrm>
          <a:prstGeom prst="rect">
            <a:avLst/>
          </a:prstGeom>
        </p:spPr>
      </p:pic>
      <p:sp>
        <p:nvSpPr>
          <p:cNvPr id="50" name="Text 36"/>
          <p:cNvSpPr txBox="1"/>
          <p:nvPr/>
        </p:nvSpPr>
        <p:spPr>
          <a:xfrm>
            <a:off x="6720840" y="3977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Familiares das vítimas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luto e reconstrução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da etapa"/>
          <p:cNvSpPr/>
          <p:nvPr/>
        </p:nvSpPr>
        <p:spPr>
          <a:xfrm>
            <a:off x="457200" y="25603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E2EBF0"/>
          </a:solidFill>
          <a:ln w="12700">
            <a:solidFill>
              <a:srgbClr val="E2EB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2E6F95"/>
                </a:solidFill>
              </a:rPr>
              <a:t>1 · IMERSÃO</a:t>
            </a:r>
            <a:endParaRPr lang="en-US" sz="10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33A"/>
                </a:solidFill>
              </a:rPr>
              <a:t>Caderno de sensibilização</a:t>
            </a:r>
            <a:endParaRPr lang="en-US" sz="3000" dirty="0"/>
          </a:p>
        </p:txBody>
      </p:sp>
      <p:sp>
        <p:nvSpPr>
          <p:cNvPr id="5" name="Linha de apoio"/>
          <p:cNvSpPr txBox="1"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O que cada integrante sentiu ao mergulhar no tema.</a:t>
            </a:r>
            <a:endParaRPr lang="en-US" sz="1300" dirty="0"/>
          </a:p>
        </p:txBody>
      </p:sp>
      <p:sp>
        <p:nvSpPr>
          <p:cNvPr id="6" name="Card de percepção"/>
          <p:cNvSpPr/>
          <p:nvPr/>
        </p:nvSpPr>
        <p:spPr>
          <a:xfrm>
            <a:off x="457200" y="1645920"/>
            <a:ext cx="4046220" cy="1444752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7" name="Avatar"/>
          <p:cNvSpPr/>
          <p:nvPr/>
        </p:nvSpPr>
        <p:spPr>
          <a:xfrm>
            <a:off x="640080" y="1847088"/>
            <a:ext cx="502920" cy="502920"/>
          </a:xfrm>
          <a:prstGeom prst="ellipse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98448" y="1810512"/>
            <a:ext cx="3040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Daniel Souza Gomes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2103120"/>
            <a:ext cx="30403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1B2433"/>
                </a:solidFill>
              </a:rPr>
              <a:t>“O que mais me marcou é que o alerta chegou, mas era igual para a cidade inteira. Quando todo aviso parece igual, ninguém sai de casa.”</a:t>
            </a:r>
            <a:endParaRPr lang="en-US" sz="1250" dirty="0"/>
          </a:p>
        </p:txBody>
      </p:sp>
      <p:sp>
        <p:nvSpPr>
          <p:cNvPr id="11" name="Card de percepção"/>
          <p:cNvSpPr/>
          <p:nvPr/>
        </p:nvSpPr>
        <p:spPr>
          <a:xfrm>
            <a:off x="4640580" y="1645920"/>
            <a:ext cx="4046220" cy="1444752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12" name="Avatar"/>
          <p:cNvSpPr/>
          <p:nvPr/>
        </p:nvSpPr>
        <p:spPr>
          <a:xfrm>
            <a:off x="4823460" y="1847088"/>
            <a:ext cx="502920" cy="50292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23460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1828" y="1810512"/>
            <a:ext cx="3040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Victor Santos Ferreira de Morais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1828" y="2103120"/>
            <a:ext cx="30403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1B2433"/>
                </a:solidFill>
              </a:rPr>
              <a:t>“A tragédia não acaba quando a chuva para. Quem perdeu a casa ainda espera laudo, enfrenta fila e paga um aluguel cada vez mais caro.”</a:t>
            </a:r>
            <a:endParaRPr lang="en-US" sz="1250" dirty="0"/>
          </a:p>
        </p:txBody>
      </p:sp>
      <p:sp>
        <p:nvSpPr>
          <p:cNvPr id="16" name="Card de percepção"/>
          <p:cNvSpPr/>
          <p:nvPr/>
        </p:nvSpPr>
        <p:spPr>
          <a:xfrm>
            <a:off x="457200" y="3227832"/>
            <a:ext cx="4046220" cy="1444752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17" name="Avatar"/>
          <p:cNvSpPr/>
          <p:nvPr/>
        </p:nvSpPr>
        <p:spPr>
          <a:xfrm>
            <a:off x="640080" y="3429000"/>
            <a:ext cx="502920" cy="502920"/>
          </a:xfrm>
          <a:prstGeom prst="ellipse">
            <a:avLst/>
          </a:prstGeom>
          <a:solidFill>
            <a:srgbClr val="4F9D69"/>
          </a:solidFill>
          <a:ln w="12700">
            <a:solidFill>
              <a:srgbClr val="4F9D6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98448" y="3392424"/>
            <a:ext cx="3040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Diego Ramos Pereira Gonzalez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298448" y="3685032"/>
            <a:ext cx="30403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1B2433"/>
                </a:solidFill>
              </a:rPr>
              <a:t>“Me incomodou saber que toneladas de lixo saem dos bueiros e, mesmo assim, ninguém sabe qual bueiro está cheio até a rua alagar.”</a:t>
            </a:r>
            <a:endParaRPr lang="en-US" sz="1250" dirty="0"/>
          </a:p>
        </p:txBody>
      </p:sp>
      <p:sp>
        <p:nvSpPr>
          <p:cNvPr id="21" name="Card de percepção"/>
          <p:cNvSpPr/>
          <p:nvPr/>
        </p:nvSpPr>
        <p:spPr>
          <a:xfrm>
            <a:off x="4640580" y="3227832"/>
            <a:ext cx="4046220" cy="1444752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22" name="Avatar"/>
          <p:cNvSpPr/>
          <p:nvPr/>
        </p:nvSpPr>
        <p:spPr>
          <a:xfrm>
            <a:off x="4823460" y="3429000"/>
            <a:ext cx="502920" cy="502920"/>
          </a:xfrm>
          <a:prstGeom prst="ellipse">
            <a:avLst/>
          </a:prstGeom>
          <a:solidFill>
            <a:srgbClr val="C8453C"/>
          </a:solidFill>
          <a:ln w="12700">
            <a:solidFill>
              <a:srgbClr val="C8453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2346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DO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1828" y="3392424"/>
            <a:ext cx="3040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Diego Alejandro Ribeiro Olalla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1828" y="3685032"/>
            <a:ext cx="30403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1B2433"/>
                </a:solidFill>
              </a:rPr>
              <a:t>“Ler os relatos do Jardim Burnier me deu um aperto: gente que viu a poeira antes de entender o perigo. Quero dar a eles minutos de vantagem.”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da etapa"/>
          <p:cNvSpPr/>
          <p:nvPr/>
        </p:nvSpPr>
        <p:spPr>
          <a:xfrm>
            <a:off x="457200" y="256032"/>
            <a:ext cx="2194560" cy="256032"/>
          </a:xfrm>
          <a:prstGeom prst="roundRect">
            <a:avLst>
              <a:gd name="adj" fmla="val 50000"/>
            </a:avLst>
          </a:prstGeom>
          <a:solidFill>
            <a:srgbClr val="EFE8E4"/>
          </a:solidFill>
          <a:ln w="12700">
            <a:solidFill>
              <a:srgbClr val="EFE8E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8C5A3C"/>
                </a:solidFill>
              </a:rPr>
              <a:t>2 · ANÁLISE E SÍNTESE</a:t>
            </a:r>
            <a:endParaRPr lang="en-US" sz="10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33A"/>
                </a:solidFill>
              </a:rPr>
              <a:t>Cartões de insight</a:t>
            </a:r>
            <a:endParaRPr lang="en-US" sz="3000" dirty="0"/>
          </a:p>
        </p:txBody>
      </p:sp>
      <p:sp>
        <p:nvSpPr>
          <p:cNvPr id="5" name="Linha de apoio"/>
          <p:cNvSpPr txBox="1"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Achados da pesquisa transformados em frases curtas. A cor indica o grupo de afinidade.</a:t>
            </a:r>
            <a:endParaRPr lang="en-US" sz="1300" dirty="0"/>
          </a:p>
        </p:txBody>
      </p:sp>
      <p:sp>
        <p:nvSpPr>
          <p:cNvPr id="6" name="Cartão de insight"/>
          <p:cNvSpPr/>
          <p:nvPr/>
        </p:nvSpPr>
        <p:spPr>
          <a:xfrm>
            <a:off x="457200" y="1627632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FAECEC"/>
          </a:solidFill>
          <a:ln w="9525">
            <a:solidFill>
              <a:srgbClr val="F1D1C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4360" y="17190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453C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975104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233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 alerta vale para a cidade toda, não para o barranco de cada um.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7157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</a:rPr>
              <a:t>Defesa Civil manda mensagem geral</a:t>
            </a:r>
            <a:endParaRPr lang="en-US" sz="950" dirty="0"/>
          </a:p>
        </p:txBody>
      </p:sp>
      <p:sp>
        <p:nvSpPr>
          <p:cNvPr id="10" name="Cartão de insight"/>
          <p:cNvSpPr/>
          <p:nvPr/>
        </p:nvSpPr>
        <p:spPr>
          <a:xfrm>
            <a:off x="2560320" y="1627632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FAECEC"/>
          </a:solidFill>
          <a:ln w="9525">
            <a:solidFill>
              <a:srgbClr val="F1D1C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697480" y="17190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453C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1975104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233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Sem sirene, o morador só percebe o perigo quando vê a poeira.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27157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</a:rPr>
              <a:t>Relato de sobrevivente do Burnier</a:t>
            </a:r>
            <a:endParaRPr lang="en-US" sz="950" dirty="0"/>
          </a:p>
        </p:txBody>
      </p:sp>
      <p:sp>
        <p:nvSpPr>
          <p:cNvPr id="14" name="Cartão de insight"/>
          <p:cNvSpPr/>
          <p:nvPr/>
        </p:nvSpPr>
        <p:spPr>
          <a:xfrm>
            <a:off x="4663440" y="1627632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F4EFEC"/>
          </a:solidFill>
          <a:ln w="9525">
            <a:solidFill>
              <a:srgbClr val="E2D6C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800600" y="17190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5A3C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1975104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233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Solo encharcado segue perigoso dias depois da chuva.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27157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</a:rPr>
              <a:t>Áreas seguiram isoladas mesmo na trégua</a:t>
            </a:r>
            <a:endParaRPr lang="en-US" sz="950" dirty="0"/>
          </a:p>
        </p:txBody>
      </p:sp>
      <p:sp>
        <p:nvSpPr>
          <p:cNvPr id="18" name="Cartão de insight"/>
          <p:cNvSpPr/>
          <p:nvPr/>
        </p:nvSpPr>
        <p:spPr>
          <a:xfrm>
            <a:off x="6766560" y="1627632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F4EFEC"/>
          </a:solidFill>
          <a:ln w="9525">
            <a:solidFill>
              <a:srgbClr val="E2D6C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903720" y="17190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5A3C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1975104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233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 em cada 4 moradores de Juiz de Fora vive em área de risco.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27157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</a:rPr>
              <a:t>Nota técnica do Cemaden</a:t>
            </a:r>
            <a:endParaRPr lang="en-US" sz="950" dirty="0"/>
          </a:p>
        </p:txBody>
      </p:sp>
      <p:sp>
        <p:nvSpPr>
          <p:cNvPr id="22" name="Cartão de insight"/>
          <p:cNvSpPr/>
          <p:nvPr/>
        </p:nvSpPr>
        <p:spPr>
          <a:xfrm>
            <a:off x="457200" y="3182112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EAF1F4"/>
          </a:solidFill>
          <a:ln w="9525">
            <a:solidFill>
              <a:srgbClr val="CBDBE5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594360" y="32735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F9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3529584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233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Ninguém sabe qual bueiro está cheio até a rua alagar.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42702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</a:rPr>
              <a:t>250 t de lixo nos bueiros em 2025</a:t>
            </a:r>
            <a:endParaRPr lang="en-US" sz="950" dirty="0"/>
          </a:p>
        </p:txBody>
      </p:sp>
      <p:sp>
        <p:nvSpPr>
          <p:cNvPr id="26" name="Cartão de insight"/>
          <p:cNvSpPr/>
          <p:nvPr/>
        </p:nvSpPr>
        <p:spPr>
          <a:xfrm>
            <a:off x="2560320" y="3182112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FCF2EA"/>
          </a:solidFill>
          <a:ln w="9525">
            <a:solidFill>
              <a:srgbClr val="F7DEC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2697480" y="32735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2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06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2697480" y="3529584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233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Depois da chuva vêm laudo, fila e aluguel mais caro.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2697480" y="42702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</a:rPr>
              <a:t>Procon apura alta abusiva de aluguéis</a:t>
            </a:r>
            <a:endParaRPr lang="en-US" sz="950" dirty="0"/>
          </a:p>
        </p:txBody>
      </p:sp>
      <p:sp>
        <p:nvSpPr>
          <p:cNvPr id="30" name="Cartão de insight"/>
          <p:cNvSpPr/>
          <p:nvPr/>
        </p:nvSpPr>
        <p:spPr>
          <a:xfrm>
            <a:off x="4663440" y="3182112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EDF5F0"/>
          </a:solidFill>
          <a:ln w="9525">
            <a:solidFill>
              <a:srgbClr val="D3E7D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4800600" y="32735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9D6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07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3529584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233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 aviso precisa chegar onde o morador já está: no WhatsApp.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42702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</a:rPr>
              <a:t>Entrevista com Anderson Rezende</a:t>
            </a:r>
            <a:endParaRPr lang="en-US" sz="950" dirty="0"/>
          </a:p>
        </p:txBody>
      </p:sp>
      <p:sp>
        <p:nvSpPr>
          <p:cNvPr id="34" name="Cartão de insight"/>
          <p:cNvSpPr/>
          <p:nvPr/>
        </p:nvSpPr>
        <p:spPr>
          <a:xfrm>
            <a:off x="6766560" y="3182112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EDF5F0"/>
          </a:solidFill>
          <a:ln w="9525">
            <a:solidFill>
              <a:srgbClr val="D3E7D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6903720" y="32735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9D69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08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903720" y="3529584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233A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Prefeitura gasta pouco: começar sem hardware.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6903720" y="42702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75"/>
                </a:solidFill>
              </a:rPr>
              <a:t>Entrevista com Anderson Rezende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da etapa"/>
          <p:cNvSpPr/>
          <p:nvPr/>
        </p:nvSpPr>
        <p:spPr>
          <a:xfrm>
            <a:off x="457200" y="256032"/>
            <a:ext cx="2194560" cy="256032"/>
          </a:xfrm>
          <a:prstGeom prst="roundRect">
            <a:avLst>
              <a:gd name="adj" fmla="val 50000"/>
            </a:avLst>
          </a:prstGeom>
          <a:solidFill>
            <a:srgbClr val="EFE8E4"/>
          </a:solidFill>
          <a:ln w="12700">
            <a:solidFill>
              <a:srgbClr val="EFE8E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8C5A3C"/>
                </a:solidFill>
              </a:rPr>
              <a:t>2 · ANÁLISE E SÍNTESE</a:t>
            </a:r>
            <a:endParaRPr lang="en-US" sz="10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33A"/>
                </a:solidFill>
              </a:rPr>
              <a:t>Diagrama de afinidades</a:t>
            </a:r>
            <a:endParaRPr lang="en-US" sz="3000" dirty="0"/>
          </a:p>
        </p:txBody>
      </p:sp>
      <p:sp>
        <p:nvSpPr>
          <p:cNvPr id="5" name="Linha de apoio"/>
          <p:cNvSpPr txBox="1"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Insights e achados agrupados por tema. Os números remetem aos cartões de insight.</a:t>
            </a:r>
            <a:endParaRPr lang="en-US" sz="1300" dirty="0"/>
          </a:p>
        </p:txBody>
      </p:sp>
      <p:sp>
        <p:nvSpPr>
          <p:cNvPr id="6" name="Grupo de afinidade"/>
          <p:cNvSpPr/>
          <p:nvPr/>
        </p:nvSpPr>
        <p:spPr>
          <a:xfrm>
            <a:off x="457200" y="1627632"/>
            <a:ext cx="1536192" cy="457200"/>
          </a:xfrm>
          <a:prstGeom prst="roundRect">
            <a:avLst>
              <a:gd name="adj" fmla="val 16000"/>
            </a:avLst>
          </a:prstGeom>
          <a:solidFill>
            <a:srgbClr val="C8453C"/>
          </a:solidFill>
          <a:ln w="12700">
            <a:solidFill>
              <a:srgbClr val="C8453C"/>
            </a:solidFill>
            <a:prstDash val="solid"/>
          </a:ln>
        </p:spPr>
      </p:sp>
      <p:pic>
        <p:nvPicPr>
          <p:cNvPr id="7" name="Image 0" descr="Alerta e comunicaçã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737360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162763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Alerta e comunicação</a:t>
            </a:r>
            <a:endParaRPr lang="en-US" sz="1250" dirty="0"/>
          </a:p>
        </p:txBody>
      </p:sp>
      <p:sp>
        <p:nvSpPr>
          <p:cNvPr id="9" name="Nota"/>
          <p:cNvSpPr/>
          <p:nvPr/>
        </p:nvSpPr>
        <p:spPr>
          <a:xfrm>
            <a:off x="457200" y="2194560"/>
            <a:ext cx="1536192" cy="548640"/>
          </a:xfrm>
          <a:prstGeom prst="roundRect">
            <a:avLst>
              <a:gd name="adj" fmla="val 10000"/>
            </a:avLst>
          </a:prstGeom>
          <a:solidFill>
            <a:srgbClr val="F7E5E4"/>
          </a:solidFill>
          <a:ln w="9525">
            <a:solidFill>
              <a:srgbClr val="F7E5E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" y="219456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3"/>
                </a:solidFill>
              </a:rPr>
              <a:t>01 · Alerta genérico, para a cidade toda</a:t>
            </a:r>
            <a:endParaRPr lang="en-US" sz="1150" dirty="0"/>
          </a:p>
        </p:txBody>
      </p:sp>
      <p:sp>
        <p:nvSpPr>
          <p:cNvPr id="11" name="Nota"/>
          <p:cNvSpPr/>
          <p:nvPr/>
        </p:nvSpPr>
        <p:spPr>
          <a:xfrm>
            <a:off x="457200" y="2834640"/>
            <a:ext cx="1536192" cy="548640"/>
          </a:xfrm>
          <a:prstGeom prst="roundRect">
            <a:avLst>
              <a:gd name="adj" fmla="val 10000"/>
            </a:avLst>
          </a:prstGeom>
          <a:solidFill>
            <a:srgbClr val="F7E5E4"/>
          </a:solidFill>
          <a:ln w="9525">
            <a:solidFill>
              <a:srgbClr val="F7E5E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6928" y="283464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3"/>
                </a:solidFill>
              </a:rPr>
              <a:t>02 · Sem sirene, o aviso chega tarde</a:t>
            </a:r>
            <a:endParaRPr lang="en-US" sz="1150" dirty="0"/>
          </a:p>
        </p:txBody>
      </p:sp>
      <p:sp>
        <p:nvSpPr>
          <p:cNvPr id="13" name="Nota"/>
          <p:cNvSpPr/>
          <p:nvPr/>
        </p:nvSpPr>
        <p:spPr>
          <a:xfrm>
            <a:off x="457200" y="3474720"/>
            <a:ext cx="1536192" cy="548640"/>
          </a:xfrm>
          <a:prstGeom prst="roundRect">
            <a:avLst>
              <a:gd name="adj" fmla="val 10000"/>
            </a:avLst>
          </a:prstGeom>
          <a:solidFill>
            <a:srgbClr val="F7E5E4"/>
          </a:solidFill>
          <a:ln w="9525">
            <a:solidFill>
              <a:srgbClr val="F7E5E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66928" y="347472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3"/>
                </a:solidFill>
              </a:rPr>
              <a:t>Retirada preventiva falhou mesmo com alertas (MPF)</a:t>
            </a:r>
            <a:endParaRPr lang="en-US" sz="1150" dirty="0"/>
          </a:p>
        </p:txBody>
      </p:sp>
      <p:sp>
        <p:nvSpPr>
          <p:cNvPr id="15" name="Grupo de afinidade"/>
          <p:cNvSpPr/>
          <p:nvPr/>
        </p:nvSpPr>
        <p:spPr>
          <a:xfrm>
            <a:off x="2130552" y="1627632"/>
            <a:ext cx="1536192" cy="457200"/>
          </a:xfrm>
          <a:prstGeom prst="roundRect">
            <a:avLst>
              <a:gd name="adj" fmla="val 16000"/>
            </a:avLst>
          </a:prstGeom>
          <a:solidFill>
            <a:srgbClr val="8C5A3C"/>
          </a:solidFill>
          <a:ln w="12700">
            <a:solidFill>
              <a:srgbClr val="8C5A3C"/>
            </a:solidFill>
            <a:prstDash val="solid"/>
          </a:ln>
        </p:spPr>
      </p:sp>
      <p:pic>
        <p:nvPicPr>
          <p:cNvPr id="16" name="Image 1" descr="Risco na encos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68" y="1737360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587752" y="162763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Risco na encosta</a:t>
            </a:r>
            <a:endParaRPr lang="en-US" sz="1250" dirty="0"/>
          </a:p>
        </p:txBody>
      </p:sp>
      <p:sp>
        <p:nvSpPr>
          <p:cNvPr id="18" name="Nota"/>
          <p:cNvSpPr/>
          <p:nvPr/>
        </p:nvSpPr>
        <p:spPr>
          <a:xfrm>
            <a:off x="2130552" y="2194560"/>
            <a:ext cx="1536192" cy="548640"/>
          </a:xfrm>
          <a:prstGeom prst="roundRect">
            <a:avLst>
              <a:gd name="adj" fmla="val 10000"/>
            </a:avLst>
          </a:prstGeom>
          <a:solidFill>
            <a:srgbClr val="EFE8E4"/>
          </a:solidFill>
          <a:ln w="9525">
            <a:solidFill>
              <a:srgbClr val="EFE8E4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2240280" y="219456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3"/>
                </a:solidFill>
              </a:rPr>
              <a:t>03 · Solo saturado segue perigoso por dias</a:t>
            </a:r>
            <a:endParaRPr lang="en-US" sz="1150" dirty="0"/>
          </a:p>
        </p:txBody>
      </p:sp>
      <p:sp>
        <p:nvSpPr>
          <p:cNvPr id="20" name="Nota"/>
          <p:cNvSpPr/>
          <p:nvPr/>
        </p:nvSpPr>
        <p:spPr>
          <a:xfrm>
            <a:off x="2130552" y="2834640"/>
            <a:ext cx="1536192" cy="548640"/>
          </a:xfrm>
          <a:prstGeom prst="roundRect">
            <a:avLst>
              <a:gd name="adj" fmla="val 10000"/>
            </a:avLst>
          </a:prstGeom>
          <a:solidFill>
            <a:srgbClr val="EFE8E4"/>
          </a:solidFill>
          <a:ln w="9525">
            <a:solidFill>
              <a:srgbClr val="EFE8E4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2240280" y="283464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3"/>
                </a:solidFill>
              </a:rPr>
              <a:t>04 · 1 em cada 4 moradores em área de risco</a:t>
            </a:r>
            <a:endParaRPr lang="en-US" sz="1150" dirty="0"/>
          </a:p>
        </p:txBody>
      </p:sp>
      <p:sp>
        <p:nvSpPr>
          <p:cNvPr id="22" name="Nota"/>
          <p:cNvSpPr/>
          <p:nvPr/>
        </p:nvSpPr>
        <p:spPr>
          <a:xfrm>
            <a:off x="2130552" y="3474720"/>
            <a:ext cx="1536192" cy="548640"/>
          </a:xfrm>
          <a:prstGeom prst="roundRect">
            <a:avLst>
              <a:gd name="adj" fmla="val 10000"/>
            </a:avLst>
          </a:prstGeom>
          <a:solidFill>
            <a:srgbClr val="EFE8E4"/>
          </a:solidFill>
          <a:ln w="9525">
            <a:solidFill>
              <a:srgbClr val="EFE8E4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2240280" y="347472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3"/>
                </a:solidFill>
              </a:rPr>
              <a:t>142 áreas de risco vigiadas só por vistoria</a:t>
            </a:r>
            <a:endParaRPr lang="en-US" sz="1150" dirty="0"/>
          </a:p>
        </p:txBody>
      </p:sp>
      <p:sp>
        <p:nvSpPr>
          <p:cNvPr id="24" name="Grupo de afinidade"/>
          <p:cNvSpPr/>
          <p:nvPr/>
        </p:nvSpPr>
        <p:spPr>
          <a:xfrm>
            <a:off x="3803904" y="1627632"/>
            <a:ext cx="1536192" cy="457200"/>
          </a:xfrm>
          <a:prstGeom prst="roundRect">
            <a:avLst>
              <a:gd name="adj" fmla="val 16000"/>
            </a:avLst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pic>
        <p:nvPicPr>
          <p:cNvPr id="25" name="Image 2" descr="Drenagem e lix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737360"/>
            <a:ext cx="237744" cy="237744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4261104" y="162763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Drenagem e lixo</a:t>
            </a:r>
            <a:endParaRPr lang="en-US" sz="1250" dirty="0"/>
          </a:p>
        </p:txBody>
      </p:sp>
      <p:sp>
        <p:nvSpPr>
          <p:cNvPr id="27" name="Nota"/>
          <p:cNvSpPr/>
          <p:nvPr/>
        </p:nvSpPr>
        <p:spPr>
          <a:xfrm>
            <a:off x="3803904" y="2194560"/>
            <a:ext cx="1536192" cy="548640"/>
          </a:xfrm>
          <a:prstGeom prst="roundRect">
            <a:avLst>
              <a:gd name="adj" fmla="val 10000"/>
            </a:avLst>
          </a:prstGeom>
          <a:solidFill>
            <a:srgbClr val="E2EBF0"/>
          </a:solidFill>
          <a:ln w="9525">
            <a:solidFill>
              <a:srgbClr val="E2EBF0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3913632" y="219456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3"/>
                </a:solidFill>
              </a:rPr>
              <a:t>05 · Ninguém sabe qual bueiro está cheio</a:t>
            </a:r>
            <a:endParaRPr lang="en-US" sz="1150" dirty="0"/>
          </a:p>
        </p:txBody>
      </p:sp>
      <p:sp>
        <p:nvSpPr>
          <p:cNvPr id="29" name="Nota"/>
          <p:cNvSpPr/>
          <p:nvPr/>
        </p:nvSpPr>
        <p:spPr>
          <a:xfrm>
            <a:off x="3803904" y="2834640"/>
            <a:ext cx="1536192" cy="548640"/>
          </a:xfrm>
          <a:prstGeom prst="roundRect">
            <a:avLst>
              <a:gd name="adj" fmla="val 10000"/>
            </a:avLst>
          </a:prstGeom>
          <a:solidFill>
            <a:srgbClr val="E2EBF0"/>
          </a:solidFill>
          <a:ln w="9525">
            <a:solidFill>
              <a:srgbClr val="E2EBF0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3913632" y="283464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3"/>
                </a:solidFill>
              </a:rPr>
              <a:t>Sacolas e garrafas PET são o que mais entope</a:t>
            </a:r>
            <a:endParaRPr lang="en-US" sz="1150" dirty="0"/>
          </a:p>
        </p:txBody>
      </p:sp>
      <p:sp>
        <p:nvSpPr>
          <p:cNvPr id="31" name="Nota"/>
          <p:cNvSpPr/>
          <p:nvPr/>
        </p:nvSpPr>
        <p:spPr>
          <a:xfrm>
            <a:off x="3803904" y="3474720"/>
            <a:ext cx="1536192" cy="548640"/>
          </a:xfrm>
          <a:prstGeom prst="roundRect">
            <a:avLst>
              <a:gd name="adj" fmla="val 10000"/>
            </a:avLst>
          </a:prstGeom>
          <a:solidFill>
            <a:srgbClr val="E2EBF0"/>
          </a:solidFill>
          <a:ln w="9525">
            <a:solidFill>
              <a:srgbClr val="E2EBF0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3913632" y="347472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3"/>
                </a:solidFill>
              </a:rPr>
              <a:t>50 mm em 40 minutos alagam o Centro</a:t>
            </a:r>
            <a:endParaRPr lang="en-US" sz="1150" dirty="0"/>
          </a:p>
        </p:txBody>
      </p:sp>
      <p:sp>
        <p:nvSpPr>
          <p:cNvPr id="33" name="Grupo de afinidade"/>
          <p:cNvSpPr/>
          <p:nvPr/>
        </p:nvSpPr>
        <p:spPr>
          <a:xfrm>
            <a:off x="5477256" y="1627632"/>
            <a:ext cx="1536192" cy="457200"/>
          </a:xfrm>
          <a:prstGeom prst="roundRect">
            <a:avLst>
              <a:gd name="adj" fmla="val 16000"/>
            </a:avLst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pic>
        <p:nvPicPr>
          <p:cNvPr id="34" name="Image 3" descr="Pós-desastr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5272" y="1737360"/>
            <a:ext cx="237744" cy="237744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5934456" y="162763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Pós-desastre</a:t>
            </a:r>
            <a:endParaRPr lang="en-US" sz="1250" dirty="0"/>
          </a:p>
        </p:txBody>
      </p:sp>
      <p:sp>
        <p:nvSpPr>
          <p:cNvPr id="36" name="Nota"/>
          <p:cNvSpPr/>
          <p:nvPr/>
        </p:nvSpPr>
        <p:spPr>
          <a:xfrm>
            <a:off x="5477256" y="2194560"/>
            <a:ext cx="1536192" cy="548640"/>
          </a:xfrm>
          <a:prstGeom prst="roundRect">
            <a:avLst>
              <a:gd name="adj" fmla="val 10000"/>
            </a:avLst>
          </a:prstGeom>
          <a:solidFill>
            <a:srgbClr val="FBECE2"/>
          </a:solidFill>
          <a:ln w="9525">
            <a:solidFill>
              <a:srgbClr val="FBECE2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5586984" y="219456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3"/>
                </a:solidFill>
              </a:rPr>
              <a:t>06 · Laudo, fila e aluguel mais caro</a:t>
            </a:r>
            <a:endParaRPr lang="en-US" sz="1150" dirty="0"/>
          </a:p>
        </p:txBody>
      </p:sp>
      <p:sp>
        <p:nvSpPr>
          <p:cNvPr id="38" name="Nota"/>
          <p:cNvSpPr/>
          <p:nvPr/>
        </p:nvSpPr>
        <p:spPr>
          <a:xfrm>
            <a:off x="5477256" y="2834640"/>
            <a:ext cx="1536192" cy="548640"/>
          </a:xfrm>
          <a:prstGeom prst="roundRect">
            <a:avLst>
              <a:gd name="adj" fmla="val 10000"/>
            </a:avLst>
          </a:prstGeom>
          <a:solidFill>
            <a:srgbClr val="FBECE2"/>
          </a:solidFill>
          <a:ln w="9525">
            <a:solidFill>
              <a:srgbClr val="FBECE2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5586984" y="283464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3"/>
                </a:solidFill>
              </a:rPr>
              <a:t>8.854 pessoas fora de casa</a:t>
            </a:r>
            <a:endParaRPr lang="en-US" sz="1150" dirty="0"/>
          </a:p>
        </p:txBody>
      </p:sp>
      <p:sp>
        <p:nvSpPr>
          <p:cNvPr id="40" name="Nota"/>
          <p:cNvSpPr/>
          <p:nvPr/>
        </p:nvSpPr>
        <p:spPr>
          <a:xfrm>
            <a:off x="5477256" y="3474720"/>
            <a:ext cx="1536192" cy="548640"/>
          </a:xfrm>
          <a:prstGeom prst="roundRect">
            <a:avLst>
              <a:gd name="adj" fmla="val 10000"/>
            </a:avLst>
          </a:prstGeom>
          <a:solidFill>
            <a:srgbClr val="FBECE2"/>
          </a:solidFill>
          <a:ln w="9525">
            <a:solidFill>
              <a:srgbClr val="FBECE2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5586984" y="347472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3"/>
                </a:solidFill>
              </a:rPr>
              <a:t>Escolas viram abrigo por semanas</a:t>
            </a:r>
            <a:endParaRPr lang="en-US" sz="1150" dirty="0"/>
          </a:p>
        </p:txBody>
      </p:sp>
      <p:sp>
        <p:nvSpPr>
          <p:cNvPr id="42" name="Grupo de afinidade"/>
          <p:cNvSpPr/>
          <p:nvPr/>
        </p:nvSpPr>
        <p:spPr>
          <a:xfrm>
            <a:off x="7150608" y="1627632"/>
            <a:ext cx="1536192" cy="457200"/>
          </a:xfrm>
          <a:prstGeom prst="roundRect">
            <a:avLst>
              <a:gd name="adj" fmla="val 16000"/>
            </a:avLst>
          </a:prstGeom>
          <a:solidFill>
            <a:srgbClr val="4F9D69"/>
          </a:solidFill>
          <a:ln w="12700">
            <a:solidFill>
              <a:srgbClr val="4F9D69"/>
            </a:solidFill>
            <a:prstDash val="solid"/>
          </a:ln>
        </p:spPr>
      </p:sp>
      <p:pic>
        <p:nvPicPr>
          <p:cNvPr id="43" name="Image 4" descr="Viabilidad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624" y="1737360"/>
            <a:ext cx="237744" cy="237744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7607808" y="162763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Viabilidade</a:t>
            </a:r>
            <a:endParaRPr lang="en-US" sz="1250" dirty="0"/>
          </a:p>
        </p:txBody>
      </p:sp>
      <p:sp>
        <p:nvSpPr>
          <p:cNvPr id="45" name="Nota"/>
          <p:cNvSpPr/>
          <p:nvPr/>
        </p:nvSpPr>
        <p:spPr>
          <a:xfrm>
            <a:off x="7150608" y="2194560"/>
            <a:ext cx="1536192" cy="548640"/>
          </a:xfrm>
          <a:prstGeom prst="roundRect">
            <a:avLst>
              <a:gd name="adj" fmla="val 10000"/>
            </a:avLst>
          </a:prstGeom>
          <a:solidFill>
            <a:srgbClr val="E6F1EA"/>
          </a:solidFill>
          <a:ln w="9525">
            <a:solidFill>
              <a:srgbClr val="E6F1EA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7260336" y="219456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3"/>
                </a:solidFill>
              </a:rPr>
              <a:t>07 · Aviso no WhatsApp, onde o morador já está</a:t>
            </a:r>
            <a:endParaRPr lang="en-US" sz="1150" dirty="0"/>
          </a:p>
        </p:txBody>
      </p:sp>
      <p:sp>
        <p:nvSpPr>
          <p:cNvPr id="47" name="Nota"/>
          <p:cNvSpPr/>
          <p:nvPr/>
        </p:nvSpPr>
        <p:spPr>
          <a:xfrm>
            <a:off x="7150608" y="2834640"/>
            <a:ext cx="1536192" cy="548640"/>
          </a:xfrm>
          <a:prstGeom prst="roundRect">
            <a:avLst>
              <a:gd name="adj" fmla="val 10000"/>
            </a:avLst>
          </a:prstGeom>
          <a:solidFill>
            <a:srgbClr val="E6F1EA"/>
          </a:solidFill>
          <a:ln w="9525">
            <a:solidFill>
              <a:srgbClr val="E6F1EA"/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7260336" y="283464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3"/>
                </a:solidFill>
              </a:rPr>
              <a:t>08 · Começar sem hardware</a:t>
            </a:r>
            <a:endParaRPr lang="en-US" sz="1150" dirty="0"/>
          </a:p>
        </p:txBody>
      </p:sp>
      <p:sp>
        <p:nvSpPr>
          <p:cNvPr id="49" name="Nota"/>
          <p:cNvSpPr/>
          <p:nvPr/>
        </p:nvSpPr>
        <p:spPr>
          <a:xfrm>
            <a:off x="7150608" y="3474720"/>
            <a:ext cx="1536192" cy="548640"/>
          </a:xfrm>
          <a:prstGeom prst="roundRect">
            <a:avLst>
              <a:gd name="adj" fmla="val 10000"/>
            </a:avLst>
          </a:prstGeom>
          <a:solidFill>
            <a:srgbClr val="E6F1EA"/>
          </a:solidFill>
          <a:ln w="9525">
            <a:solidFill>
              <a:srgbClr val="E6F1EA"/>
            </a:solidFill>
            <a:prstDash val="solid"/>
          </a:ln>
        </p:spPr>
      </p:sp>
      <p:sp>
        <p:nvSpPr>
          <p:cNvPr id="50" name="Text 43"/>
          <p:cNvSpPr txBox="1"/>
          <p:nvPr/>
        </p:nvSpPr>
        <p:spPr>
          <a:xfrm>
            <a:off x="7260336" y="347472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3"/>
                </a:solidFill>
              </a:rPr>
              <a:t>Instalar sensores aos poucos, por fase</a:t>
            </a:r>
            <a:endParaRPr lang="en-US" sz="1150" dirty="0"/>
          </a:p>
        </p:txBody>
      </p:sp>
      <p:sp>
        <p:nvSpPr>
          <p:cNvPr id="51" name="Conclusão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13233A"/>
          </a:solidFill>
          <a:ln w="9525">
            <a:solidFill>
              <a:srgbClr val="13233A"/>
            </a:solidFill>
            <a:prstDash val="solid"/>
          </a:ln>
        </p:spPr>
      </p:sp>
      <p:sp>
        <p:nvSpPr>
          <p:cNvPr id="52" name="Text 45"/>
          <p:cNvSpPr txBox="1"/>
          <p:nvPr/>
        </p:nvSpPr>
        <p:spPr>
          <a:xfrm>
            <a:off x="685800" y="41605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2F"/>
                </a:solidFill>
              </a:rPr>
              <a:t>Padrão central: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falta aviso local, na hora certa e no canal que o morador já usa, começando barato.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da etapa"/>
          <p:cNvSpPr/>
          <p:nvPr/>
        </p:nvSpPr>
        <p:spPr>
          <a:xfrm>
            <a:off x="457200" y="25603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FBECE2"/>
          </a:solidFill>
          <a:ln w="12700">
            <a:solidFill>
              <a:srgbClr val="FBECE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E07A2F"/>
                </a:solidFill>
              </a:rPr>
              <a:t>3 · IDEAÇÃO</a:t>
            </a:r>
            <a:endParaRPr lang="en-US" sz="10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33A"/>
                </a:solidFill>
              </a:rPr>
              <a:t>Brainstorming</a:t>
            </a:r>
            <a:endParaRPr lang="en-US" sz="3000" dirty="0"/>
          </a:p>
        </p:txBody>
      </p:sp>
      <p:sp>
        <p:nvSpPr>
          <p:cNvPr id="5" name="Linha de apoio"/>
          <p:cNvSpPr txBox="1"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Brainstorming clássico: quantidade antes de qualidade, sem julgar as ideias na hora.</a:t>
            </a:r>
            <a:endParaRPr lang="en-US" sz="1300" dirty="0"/>
          </a:p>
        </p:txBody>
      </p:sp>
      <p:sp>
        <p:nvSpPr>
          <p:cNvPr id="6" name="Post-it"/>
          <p:cNvSpPr/>
          <p:nvPr/>
        </p:nvSpPr>
        <p:spPr>
          <a:xfrm rot="-120000">
            <a:off x="457200" y="1691640"/>
            <a:ext cx="1920240" cy="1280160"/>
          </a:xfrm>
          <a:prstGeom prst="rect">
            <a:avLst/>
          </a:prstGeom>
          <a:solidFill>
            <a:srgbClr val="F7D98A"/>
          </a:solidFill>
          <a:ln>
            <a:solidFill>
              <a:srgbClr val="F7D98A"/>
            </a:solidFill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  <p:txBody>
          <a:bodyPr wrap="square" lIns="114300" tIns="127000" rIns="127000" bIns="7620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33A"/>
                </a:solidFill>
              </a:rPr>
              <a:t>Sensor de deslizamento</a:t>
            </a:r>
            <a:endParaRPr lang="en-US" sz="14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1B2433"/>
                </a:solidFill>
              </a:rPr>
              <a:t>Umidade, chuva e inclinação medidas na própria encosta</a:t>
            </a:r>
            <a:endParaRPr lang="en-US" sz="1400" dirty="0"/>
          </a:p>
        </p:txBody>
      </p:sp>
      <p:sp>
        <p:nvSpPr>
          <p:cNvPr id="7" name="Post-it"/>
          <p:cNvSpPr/>
          <p:nvPr/>
        </p:nvSpPr>
        <p:spPr>
          <a:xfrm rot="90000">
            <a:off x="2560320" y="1691640"/>
            <a:ext cx="1920240" cy="1280160"/>
          </a:xfrm>
          <a:prstGeom prst="rect">
            <a:avLst/>
          </a:prstGeom>
          <a:solidFill>
            <a:srgbClr val="F7D98A"/>
          </a:solidFill>
          <a:ln>
            <a:solidFill>
              <a:srgbClr val="F7D98A"/>
            </a:solidFill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  <p:txBody>
          <a:bodyPr wrap="square" lIns="114300" tIns="127000" rIns="127000" bIns="7620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33A"/>
                </a:solidFill>
              </a:rPr>
              <a:t>Bueiro inteligente</a:t>
            </a:r>
            <a:endParaRPr lang="en-US" sz="14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1B2433"/>
                </a:solidFill>
              </a:rPr>
              <a:t>Cesto retém o lixo e o sensor avisa quando limpar</a:t>
            </a:r>
            <a:endParaRPr lang="en-US" sz="1400" dirty="0"/>
          </a:p>
        </p:txBody>
      </p:sp>
      <p:sp>
        <p:nvSpPr>
          <p:cNvPr id="8" name="Post-it"/>
          <p:cNvSpPr/>
          <p:nvPr/>
        </p:nvSpPr>
        <p:spPr>
          <a:xfrm rot="-60000">
            <a:off x="4663440" y="1691640"/>
            <a:ext cx="1920240" cy="1280160"/>
          </a:xfrm>
          <a:prstGeom prst="rect">
            <a:avLst/>
          </a:prstGeom>
          <a:solidFill>
            <a:srgbClr val="E4E8EE"/>
          </a:solidFill>
          <a:ln>
            <a:solidFill>
              <a:srgbClr val="E4E8EE"/>
            </a:solidFill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  <p:txBody>
          <a:bodyPr wrap="square" lIns="114300" tIns="127000" rIns="127000" bIns="76200" rtlCol="0" anchor="t"/>
          <a:lstStyle/>
          <a:p>
            <a:pPr indent="0" marL="0">
              <a:buNone/>
            </a:pPr>
            <a:r>
              <a:rPr lang="en-US" sz="1400" b="1" strike="sngStrike" dirty="0">
                <a:solidFill>
                  <a:srgbClr val="5B6675"/>
                </a:solidFill>
              </a:rPr>
              <a:t>Triturador de lixo</a:t>
            </a:r>
            <a:endParaRPr lang="en-US" sz="14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</a:rPr>
              <a:t>v1 do bueiro, descartada: microplástico no rio e lâminas</a:t>
            </a:r>
            <a:endParaRPr lang="en-US" sz="1400" dirty="0"/>
          </a:p>
        </p:txBody>
      </p:sp>
      <p:sp>
        <p:nvSpPr>
          <p:cNvPr id="9" name="Post-it"/>
          <p:cNvSpPr/>
          <p:nvPr/>
        </p:nvSpPr>
        <p:spPr>
          <a:xfrm rot="120000">
            <a:off x="6766560" y="1691640"/>
            <a:ext cx="1920240" cy="1280160"/>
          </a:xfrm>
          <a:prstGeom prst="rect">
            <a:avLst/>
          </a:prstGeom>
          <a:solidFill>
            <a:srgbClr val="FBE7B3"/>
          </a:solidFill>
          <a:ln>
            <a:solidFill>
              <a:srgbClr val="FBE7B3"/>
            </a:solidFill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  <p:txBody>
          <a:bodyPr wrap="square" lIns="114300" tIns="127000" rIns="127000" bIns="7620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33A"/>
                </a:solidFill>
              </a:rPr>
              <a:t>Sirene comunitária</a:t>
            </a:r>
            <a:endParaRPr lang="en-US" sz="14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1B2433"/>
                </a:solidFill>
              </a:rPr>
              <a:t>Alarme sonoro por bairro, acionado pela Defesa Civil</a:t>
            </a:r>
            <a:endParaRPr lang="en-US" sz="1400" dirty="0"/>
          </a:p>
        </p:txBody>
      </p:sp>
      <p:sp>
        <p:nvSpPr>
          <p:cNvPr id="10" name="Post-it"/>
          <p:cNvSpPr/>
          <p:nvPr/>
        </p:nvSpPr>
        <p:spPr>
          <a:xfrm rot="90000">
            <a:off x="457200" y="3136392"/>
            <a:ext cx="1920240" cy="1280160"/>
          </a:xfrm>
          <a:prstGeom prst="rect">
            <a:avLst/>
          </a:prstGeom>
          <a:solidFill>
            <a:srgbClr val="FBE7B3"/>
          </a:solidFill>
          <a:ln>
            <a:solidFill>
              <a:srgbClr val="FBE7B3"/>
            </a:solidFill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  <p:txBody>
          <a:bodyPr wrap="square" lIns="114300" tIns="127000" rIns="127000" bIns="7620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33A"/>
                </a:solidFill>
              </a:rPr>
              <a:t>App de rotas e abrigos</a:t>
            </a:r>
            <a:endParaRPr lang="en-US" sz="14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1B2433"/>
                </a:solidFill>
              </a:rPr>
              <a:t>Mapa de risco, rota de fuga e abrigo mais próximo</a:t>
            </a:r>
            <a:endParaRPr lang="en-US" sz="1400" dirty="0"/>
          </a:p>
        </p:txBody>
      </p:sp>
      <p:sp>
        <p:nvSpPr>
          <p:cNvPr id="11" name="Post-it"/>
          <p:cNvSpPr/>
          <p:nvPr/>
        </p:nvSpPr>
        <p:spPr>
          <a:xfrm rot="-90000">
            <a:off x="2560320" y="3136392"/>
            <a:ext cx="1920240" cy="1280160"/>
          </a:xfrm>
          <a:prstGeom prst="rect">
            <a:avLst/>
          </a:prstGeom>
          <a:solidFill>
            <a:srgbClr val="FBE7B3"/>
          </a:solidFill>
          <a:ln>
            <a:solidFill>
              <a:srgbClr val="FBE7B3"/>
            </a:solidFill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  <p:txBody>
          <a:bodyPr wrap="square" lIns="114300" tIns="127000" rIns="127000" bIns="7620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33A"/>
                </a:solidFill>
              </a:rPr>
              <a:t>Mapa colaborativo</a:t>
            </a:r>
            <a:endParaRPr lang="en-US" sz="14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1B2433"/>
                </a:solidFill>
              </a:rPr>
              <a:t>Morador reporta rachadura ou bueiro entupido</a:t>
            </a:r>
            <a:endParaRPr lang="en-US" sz="1400" dirty="0"/>
          </a:p>
        </p:txBody>
      </p:sp>
      <p:sp>
        <p:nvSpPr>
          <p:cNvPr id="12" name="Post-it"/>
          <p:cNvSpPr/>
          <p:nvPr/>
        </p:nvSpPr>
        <p:spPr>
          <a:xfrm rot="120000">
            <a:off x="4663440" y="3136392"/>
            <a:ext cx="1920240" cy="1280160"/>
          </a:xfrm>
          <a:prstGeom prst="rect">
            <a:avLst/>
          </a:prstGeom>
          <a:solidFill>
            <a:srgbClr val="FBE7B3"/>
          </a:solidFill>
          <a:ln>
            <a:solidFill>
              <a:srgbClr val="FBE7B3"/>
            </a:solidFill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  <p:txBody>
          <a:bodyPr wrap="square" lIns="114300" tIns="127000" rIns="127000" bIns="7620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33A"/>
                </a:solidFill>
              </a:rPr>
              <a:t>Painel da Defesa Civil</a:t>
            </a:r>
            <a:endParaRPr lang="en-US" sz="14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1B2433"/>
                </a:solidFill>
              </a:rPr>
              <a:t>Dados dos sensores para priorizar vistorias</a:t>
            </a:r>
            <a:endParaRPr lang="en-US" sz="1400" dirty="0"/>
          </a:p>
        </p:txBody>
      </p:sp>
      <p:sp>
        <p:nvSpPr>
          <p:cNvPr id="13" name="Post-it"/>
          <p:cNvSpPr/>
          <p:nvPr/>
        </p:nvSpPr>
        <p:spPr>
          <a:xfrm rot="-60000">
            <a:off x="6766560" y="3136392"/>
            <a:ext cx="1920240" cy="1280160"/>
          </a:xfrm>
          <a:prstGeom prst="rect">
            <a:avLst/>
          </a:prstGeom>
          <a:solidFill>
            <a:srgbClr val="F7D98A"/>
          </a:solidFill>
          <a:ln>
            <a:solidFill>
              <a:srgbClr val="F7D98A"/>
            </a:solidFill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  <p:txBody>
          <a:bodyPr wrap="square" lIns="114300" tIns="127000" rIns="127000" bIns="7620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33A"/>
                </a:solidFill>
              </a:rPr>
              <a:t>Alerta por WhatsApp</a:t>
            </a:r>
            <a:endParaRPr lang="en-US" sz="14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1B2433"/>
                </a:solidFill>
              </a:rPr>
              <a:t>Previsão do tempo vira aviso com o nome da rua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da etapa"/>
          <p:cNvSpPr/>
          <p:nvPr/>
        </p:nvSpPr>
        <p:spPr>
          <a:xfrm>
            <a:off x="457200" y="25603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FBECE2"/>
          </a:solidFill>
          <a:ln w="12700">
            <a:solidFill>
              <a:srgbClr val="FBECE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E07A2F"/>
                </a:solidFill>
              </a:rPr>
              <a:t>3 · IDEAÇÃO</a:t>
            </a:r>
            <a:endParaRPr lang="en-US" sz="10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33A"/>
                </a:solidFill>
              </a:rPr>
              <a:t>Matriz GUT</a:t>
            </a:r>
            <a:endParaRPr lang="en-US" sz="3000" dirty="0"/>
          </a:p>
        </p:txBody>
      </p:sp>
      <p:sp>
        <p:nvSpPr>
          <p:cNvPr id="5" name="Linha de apoio"/>
          <p:cNvSpPr txBox="1"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Notas de 1 a 5. Em operacionalização, quanto mais fácil de executar, maior a nota.</a:t>
            </a:r>
            <a:endParaRPr lang="en-US" sz="1300" dirty="0"/>
          </a:p>
        </p:txBody>
      </p:sp>
      <p:graphicFrame>
        <p:nvGraphicFramePr>
          <p:cNvPr id="13" name="Matriz GU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27632"/>
          <a:ext cx="8229600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868680"/>
                <a:gridCol w="822960"/>
                <a:gridCol w="868680"/>
                <a:gridCol w="1234440"/>
                <a:gridCol w="914400"/>
                <a:gridCol w="822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Ideia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Gravidade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Urgência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Tendência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Operacionalização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Grau crítico (G×U×T×O)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Sequência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</a:rPr>
                        <a:t>Alerta por WhatsApp com previsão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625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8E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</a:rPr>
                        <a:t>1º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</a:rPr>
                        <a:t>Sensor de deslizamento na encosta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500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A5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</a:rPr>
                        <a:t>2º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</a:rPr>
                        <a:t>Bueiro inteligente (cesto + sensor)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</a:rPr>
                        <a:t>320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5A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</a:rPr>
                        <a:t>3º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Sirene comunitária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</a:rPr>
                        <a:t>240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4B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4º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App de rotas e abrigos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</a:rPr>
                        <a:t>192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C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5º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Mapa colaborativo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</a:rPr>
                        <a:t>144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5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6º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5"/>
                          </a:solidFill>
                        </a:rPr>
                        <a:t>Triturador de lixo (v1, descartada)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675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675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675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675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</a:rPr>
                        <a:t>64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675"/>
                          </a:solidFill>
                        </a:rPr>
                        <a:t>7º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3159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F"/>
                </a:solidFill>
              </a:rPr>
              <a:t>Resultado:  </a:t>
            </a:r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</a:rPr>
              <a:t>o alerta por WhatsApp lidera (625) por ser o mais fácil de pôr em prática; o sensor (500) e o bueiro (320) vêm em seguida.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da etapa"/>
          <p:cNvSpPr/>
          <p:nvPr/>
        </p:nvSpPr>
        <p:spPr>
          <a:xfrm>
            <a:off x="457200" y="25603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FBECE2"/>
          </a:solidFill>
          <a:ln w="12700">
            <a:solidFill>
              <a:srgbClr val="FBECE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E07A2F"/>
                </a:solidFill>
              </a:rPr>
              <a:t>3 · IDEAÇÃO</a:t>
            </a:r>
            <a:endParaRPr lang="en-US" sz="10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33A"/>
                </a:solidFill>
              </a:rPr>
              <a:t>Matriz de posicionamento</a:t>
            </a:r>
            <a:endParaRPr lang="en-US" sz="3000" dirty="0"/>
          </a:p>
        </p:txBody>
      </p:sp>
      <p:sp>
        <p:nvSpPr>
          <p:cNvPr id="5" name="Linha de apoio"/>
          <p:cNvSpPr txBox="1"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Cruzamos impacto no usuário com esforço de implementação para priorizar as ideias.</a:t>
            </a:r>
            <a:endParaRPr lang="en-US" sz="1300" dirty="0"/>
          </a:p>
        </p:txBody>
      </p:sp>
      <p:graphicFrame>
        <p:nvGraphicFramePr>
          <p:cNvPr id="14" name="Tabela de posicionament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27632"/>
          <a:ext cx="38404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05840"/>
                <a:gridCol w="914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Ideia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Impacto no usuário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Esforço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</a:rPr>
                        <a:t>1   Alerta por WhatsApp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Alto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Baixo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</a:rPr>
                        <a:t>2   Sensor de deslizamento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Muito alto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Médio-alto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3"/>
                          </a:solidFill>
                        </a:rPr>
                        <a:t>3   Bueiro inteligente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Alto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Baixo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4   Sirene comunitária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Alto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Alto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5   App de rotas e abrigos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Médio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Médio-alto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6   Mapa colaborativo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Médio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</a:rPr>
                        <a:t>Baixo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675"/>
                          </a:solidFill>
                        </a:rPr>
                        <a:t>7   Triturador de lixo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675"/>
                          </a:solidFill>
                        </a:rPr>
                        <a:t>Baixo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675"/>
                          </a:solidFill>
                        </a:rPr>
                        <a:t>Alto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3525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7A2F"/>
                </a:solidFill>
              </a:rPr>
              <a:t>Leitura:  </a:t>
            </a:r>
            <a:pPr indent="0" marL="0">
              <a:buNone/>
            </a:pPr>
            <a:r>
              <a:rPr lang="en-US" sz="1150" dirty="0">
                <a:solidFill>
                  <a:srgbClr val="1B2433"/>
                </a:solidFill>
              </a:rPr>
              <a:t>WhatsApp e bueiro são ganhos rápidos; o sensor é o estratégico, de maior impacto.</a:t>
            </a:r>
            <a:endParaRPr lang="en-US" sz="1150" dirty="0"/>
          </a:p>
        </p:txBody>
      </p:sp>
      <p:sp>
        <p:nvSpPr>
          <p:cNvPr id="8" name="Quadrante Ganhos rápidos"/>
          <p:cNvSpPr/>
          <p:nvPr/>
        </p:nvSpPr>
        <p:spPr>
          <a:xfrm>
            <a:off x="4846320" y="1627632"/>
            <a:ext cx="1920240" cy="1303020"/>
          </a:xfrm>
          <a:prstGeom prst="rect">
            <a:avLst/>
          </a:prstGeom>
          <a:solidFill>
            <a:srgbClr val="E5F0E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937760" y="16824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F9D69"/>
                </a:solidFill>
              </a:rPr>
              <a:t>Ganhos rápidos</a:t>
            </a:r>
            <a:endParaRPr lang="en-US" sz="1050" dirty="0"/>
          </a:p>
        </p:txBody>
      </p:sp>
      <p:sp>
        <p:nvSpPr>
          <p:cNvPr id="10" name="Quadrante Estratégicos"/>
          <p:cNvSpPr/>
          <p:nvPr/>
        </p:nvSpPr>
        <p:spPr>
          <a:xfrm>
            <a:off x="6766560" y="1627632"/>
            <a:ext cx="1920240" cy="1303020"/>
          </a:xfrm>
          <a:prstGeom prst="rect">
            <a:avLst/>
          </a:prstGeom>
          <a:solidFill>
            <a:srgbClr val="E0E9E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0" y="16824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6F95"/>
                </a:solidFill>
              </a:rPr>
              <a:t>Estratégicos</a:t>
            </a:r>
            <a:endParaRPr lang="en-US" sz="1050" dirty="0"/>
          </a:p>
        </p:txBody>
      </p:sp>
      <p:sp>
        <p:nvSpPr>
          <p:cNvPr id="12" name="Quadrante Complementares"/>
          <p:cNvSpPr/>
          <p:nvPr/>
        </p:nvSpPr>
        <p:spPr>
          <a:xfrm>
            <a:off x="4846320" y="2930652"/>
            <a:ext cx="1920240" cy="1303020"/>
          </a:xfrm>
          <a:prstGeom prst="rect">
            <a:avLst/>
          </a:prstGeom>
          <a:solidFill>
            <a:srgbClr val="F2F4F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937760" y="394106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B6675"/>
                </a:solidFill>
              </a:rPr>
              <a:t>Complementares</a:t>
            </a:r>
            <a:endParaRPr lang="en-US" sz="1050" dirty="0"/>
          </a:p>
        </p:txBody>
      </p:sp>
      <p:sp>
        <p:nvSpPr>
          <p:cNvPr id="14" name="Quadrante Evitar"/>
          <p:cNvSpPr/>
          <p:nvPr/>
        </p:nvSpPr>
        <p:spPr>
          <a:xfrm>
            <a:off x="6766560" y="2930652"/>
            <a:ext cx="1920240" cy="1303020"/>
          </a:xfrm>
          <a:prstGeom prst="rect">
            <a:avLst/>
          </a:prstGeom>
          <a:solidFill>
            <a:srgbClr val="F8E9E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0" y="394106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8453C"/>
                </a:solidFill>
              </a:rPr>
              <a:t>Evitar</a:t>
            </a:r>
            <a:endParaRPr lang="en-US" sz="1050" dirty="0"/>
          </a:p>
        </p:txBody>
      </p:sp>
      <p:sp>
        <p:nvSpPr>
          <p:cNvPr id="16" name="Ideia 1"/>
          <p:cNvSpPr/>
          <p:nvPr/>
        </p:nvSpPr>
        <p:spPr>
          <a:xfrm>
            <a:off x="5106010" y="2208276"/>
            <a:ext cx="402336" cy="402336"/>
          </a:xfrm>
          <a:prstGeom prst="ellipse">
            <a:avLst/>
          </a:prstGeom>
          <a:solidFill>
            <a:srgbClr val="E07A2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5106010" y="22082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8" name="Ideia 2"/>
          <p:cNvSpPr/>
          <p:nvPr/>
        </p:nvSpPr>
        <p:spPr>
          <a:xfrm>
            <a:off x="7026250" y="1687068"/>
            <a:ext cx="402336" cy="402336"/>
          </a:xfrm>
          <a:prstGeom prst="ellipse">
            <a:avLst/>
          </a:prstGeom>
          <a:solidFill>
            <a:srgbClr val="E07A2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026250" y="16870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0" name="Ideia 3"/>
          <p:cNvSpPr/>
          <p:nvPr/>
        </p:nvSpPr>
        <p:spPr>
          <a:xfrm>
            <a:off x="5874106" y="1947672"/>
            <a:ext cx="402336" cy="402336"/>
          </a:xfrm>
          <a:prstGeom prst="ellipse">
            <a:avLst/>
          </a:prstGeom>
          <a:solidFill>
            <a:srgbClr val="E07A2F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5874106" y="1947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Ideia 4"/>
          <p:cNvSpPr/>
          <p:nvPr/>
        </p:nvSpPr>
        <p:spPr>
          <a:xfrm>
            <a:off x="7600493" y="2244852"/>
            <a:ext cx="329184" cy="329184"/>
          </a:xfrm>
          <a:prstGeom prst="ellipse">
            <a:avLst/>
          </a:prstGeom>
          <a:solidFill>
            <a:srgbClr val="1323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7600493" y="22448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Ideia 5"/>
          <p:cNvSpPr/>
          <p:nvPr/>
        </p:nvSpPr>
        <p:spPr>
          <a:xfrm>
            <a:off x="7139635" y="2609698"/>
            <a:ext cx="329184" cy="329184"/>
          </a:xfrm>
          <a:prstGeom prst="ellipse">
            <a:avLst/>
          </a:prstGeom>
          <a:solidFill>
            <a:srgbClr val="1323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7139635" y="260969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Ideia 6"/>
          <p:cNvSpPr/>
          <p:nvPr/>
        </p:nvSpPr>
        <p:spPr>
          <a:xfrm>
            <a:off x="5833872" y="3078785"/>
            <a:ext cx="329184" cy="329184"/>
          </a:xfrm>
          <a:prstGeom prst="ellipse">
            <a:avLst/>
          </a:prstGeom>
          <a:solidFill>
            <a:srgbClr val="1323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5833872" y="307878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8" name="Ideia 7"/>
          <p:cNvSpPr/>
          <p:nvPr/>
        </p:nvSpPr>
        <p:spPr>
          <a:xfrm>
            <a:off x="8061350" y="3599993"/>
            <a:ext cx="329184" cy="329184"/>
          </a:xfrm>
          <a:prstGeom prst="ellipse">
            <a:avLst/>
          </a:prstGeom>
          <a:solidFill>
            <a:srgbClr val="13233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8061350" y="359999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4846320" y="42885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Esforço de implementação  →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 rot="16200000">
            <a:off x="3383280" y="281178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Impacto no usuário  →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da etapa"/>
          <p:cNvSpPr/>
          <p:nvPr/>
        </p:nvSpPr>
        <p:spPr>
          <a:xfrm>
            <a:off x="457200" y="25603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FBECE2"/>
          </a:solidFill>
          <a:ln w="12700">
            <a:solidFill>
              <a:srgbClr val="FBECE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E07A2F"/>
                </a:solidFill>
              </a:rPr>
              <a:t>3 · IDEAÇÃO</a:t>
            </a:r>
            <a:endParaRPr lang="en-US" sz="10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33A"/>
                </a:solidFill>
              </a:rPr>
              <a:t>Soluções mais promissoras e por quê</a:t>
            </a:r>
            <a:endParaRPr lang="en-US" sz="3000" dirty="0"/>
          </a:p>
        </p:txBody>
      </p:sp>
      <p:sp>
        <p:nvSpPr>
          <p:cNvPr id="5" name="Linha de apoio"/>
          <p:cNvSpPr txBox="1"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As três ideias do topo da GUT e da matriz se juntam numa só marca: a ALERA.</a:t>
            </a:r>
            <a:endParaRPr lang="en-US" sz="1300" dirty="0"/>
          </a:p>
        </p:txBody>
      </p:sp>
      <p:sp>
        <p:nvSpPr>
          <p:cNvPr id="6" name="Solução escolhida"/>
          <p:cNvSpPr/>
          <p:nvPr/>
        </p:nvSpPr>
        <p:spPr>
          <a:xfrm>
            <a:off x="457200" y="1627632"/>
            <a:ext cx="2651760" cy="2395728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7" name="Faixa de cor"/>
          <p:cNvSpPr/>
          <p:nvPr/>
        </p:nvSpPr>
        <p:spPr>
          <a:xfrm>
            <a:off x="457200" y="1627632"/>
            <a:ext cx="2651760" cy="73152"/>
          </a:xfrm>
          <a:prstGeom prst="rect">
            <a:avLst/>
          </a:prstGeom>
          <a:solidFill>
            <a:srgbClr val="4F9D69"/>
          </a:solidFill>
          <a:ln w="12700">
            <a:solidFill>
              <a:srgbClr val="4F9D69"/>
            </a:solidFill>
            <a:prstDash val="solid"/>
          </a:ln>
        </p:spPr>
      </p:sp>
      <p:sp>
        <p:nvSpPr>
          <p:cNvPr id="8" name="Círculo do ícone"/>
          <p:cNvSpPr/>
          <p:nvPr/>
        </p:nvSpPr>
        <p:spPr>
          <a:xfrm>
            <a:off x="640080" y="1856232"/>
            <a:ext cx="502920" cy="502920"/>
          </a:xfrm>
          <a:prstGeom prst="ellipse">
            <a:avLst/>
          </a:prstGeom>
          <a:solidFill>
            <a:srgbClr val="4F9D69"/>
          </a:solidFill>
          <a:ln w="12700">
            <a:solidFill>
              <a:srgbClr val="4F9D69"/>
            </a:solidFill>
            <a:prstDash val="solid"/>
          </a:ln>
        </p:spPr>
      </p:sp>
      <p:pic>
        <p:nvPicPr>
          <p:cNvPr id="9" name="Image 0" descr="FaWhats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868" y="1992020"/>
            <a:ext cx="231343" cy="23134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61872" y="181051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A"/>
                </a:solidFill>
              </a:rPr>
              <a:t>Alerta ALERA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WhatsApp + previsão</a:t>
            </a:r>
            <a:endParaRPr lang="en-US" sz="1500" dirty="0"/>
          </a:p>
        </p:txBody>
      </p:sp>
      <p:sp>
        <p:nvSpPr>
          <p:cNvPr id="11" name="Pontuação"/>
          <p:cNvSpPr/>
          <p:nvPr/>
        </p:nvSpPr>
        <p:spPr>
          <a:xfrm>
            <a:off x="640080" y="2523744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E6F1EA"/>
          </a:solidFill>
          <a:ln w="12700">
            <a:solidFill>
              <a:srgbClr val="E6F1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25237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9D69"/>
                </a:solidFill>
              </a:rPr>
              <a:t>GUT 625 · ganho rápido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290779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433"/>
                </a:solidFill>
              </a:rPr>
              <a:t>Começa sem instalar nada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433"/>
                </a:solidFill>
              </a:rPr>
              <a:t>Canal que o morador já usa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433"/>
                </a:solidFill>
              </a:rPr>
              <a:t>Aviso com o nome da rua (insight 01)</a:t>
            </a:r>
            <a:endParaRPr lang="en-US" sz="1150" dirty="0"/>
          </a:p>
        </p:txBody>
      </p:sp>
      <p:sp>
        <p:nvSpPr>
          <p:cNvPr id="14" name="Solução escolhida"/>
          <p:cNvSpPr/>
          <p:nvPr/>
        </p:nvSpPr>
        <p:spPr>
          <a:xfrm>
            <a:off x="3246120" y="1627632"/>
            <a:ext cx="2651760" cy="2395728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15" name="Faixa de cor"/>
          <p:cNvSpPr/>
          <p:nvPr/>
        </p:nvSpPr>
        <p:spPr>
          <a:xfrm>
            <a:off x="3246120" y="1627632"/>
            <a:ext cx="2651760" cy="73152"/>
          </a:xfrm>
          <a:prstGeom prst="rect">
            <a:avLst/>
          </a:prstGeom>
          <a:solidFill>
            <a:srgbClr val="8C5A3C"/>
          </a:solidFill>
          <a:ln w="12700">
            <a:solidFill>
              <a:srgbClr val="8C5A3C"/>
            </a:solidFill>
            <a:prstDash val="solid"/>
          </a:ln>
        </p:spPr>
      </p:sp>
      <p:sp>
        <p:nvSpPr>
          <p:cNvPr id="16" name="Círculo do ícone"/>
          <p:cNvSpPr/>
          <p:nvPr/>
        </p:nvSpPr>
        <p:spPr>
          <a:xfrm>
            <a:off x="3429000" y="1856232"/>
            <a:ext cx="502920" cy="502920"/>
          </a:xfrm>
          <a:prstGeom prst="ellipse">
            <a:avLst/>
          </a:prstGeom>
          <a:solidFill>
            <a:srgbClr val="8C5A3C"/>
          </a:solidFill>
          <a:ln w="12700">
            <a:solidFill>
              <a:srgbClr val="8C5A3C"/>
            </a:solidFill>
            <a:prstDash val="solid"/>
          </a:ln>
        </p:spPr>
      </p:sp>
      <p:pic>
        <p:nvPicPr>
          <p:cNvPr id="17" name="Image 1" descr="FaMounta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788" y="1992020"/>
            <a:ext cx="231343" cy="231343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050792" y="181051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A"/>
                </a:solidFill>
              </a:rPr>
              <a:t>Sensor ALERA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na encosta</a:t>
            </a:r>
            <a:endParaRPr lang="en-US" sz="1500" dirty="0"/>
          </a:p>
        </p:txBody>
      </p:sp>
      <p:sp>
        <p:nvSpPr>
          <p:cNvPr id="19" name="Pontuação"/>
          <p:cNvSpPr/>
          <p:nvPr/>
        </p:nvSpPr>
        <p:spPr>
          <a:xfrm>
            <a:off x="3429000" y="2523744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EFE8E4"/>
          </a:solidFill>
          <a:ln w="12700">
            <a:solidFill>
              <a:srgbClr val="EFE8E4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3429000" y="25237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C5A3C"/>
                </a:solidFill>
              </a:rPr>
              <a:t>GUT 500 · estratégico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3429000" y="290779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433"/>
                </a:solidFill>
              </a:rPr>
              <a:t>Ataca o deslizamento, o que mais mata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433"/>
                </a:solidFill>
              </a:rPr>
              <a:t>Mede aquela encosta, não a cidade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433"/>
                </a:solidFill>
              </a:rPr>
              <a:t>Confirma o que a previsão estima</a:t>
            </a:r>
            <a:endParaRPr lang="en-US" sz="1150" dirty="0"/>
          </a:p>
        </p:txBody>
      </p:sp>
      <p:sp>
        <p:nvSpPr>
          <p:cNvPr id="22" name="Solução escolhida"/>
          <p:cNvSpPr/>
          <p:nvPr/>
        </p:nvSpPr>
        <p:spPr>
          <a:xfrm>
            <a:off x="6035040" y="1627632"/>
            <a:ext cx="2651760" cy="2395728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23" name="Faixa de cor"/>
          <p:cNvSpPr/>
          <p:nvPr/>
        </p:nvSpPr>
        <p:spPr>
          <a:xfrm>
            <a:off x="6035040" y="1627632"/>
            <a:ext cx="2651760" cy="73152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24" name="Círculo do ícone"/>
          <p:cNvSpPr/>
          <p:nvPr/>
        </p:nvSpPr>
        <p:spPr>
          <a:xfrm>
            <a:off x="6217920" y="1856232"/>
            <a:ext cx="502920" cy="502920"/>
          </a:xfrm>
          <a:prstGeom prst="ellipse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pic>
        <p:nvPicPr>
          <p:cNvPr id="25" name="Image 2" descr="FaWat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3708" y="1992020"/>
            <a:ext cx="231343" cy="231343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839712" y="181051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A"/>
                </a:solidFill>
              </a:rPr>
              <a:t>Bueiro ALERA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na rua</a:t>
            </a:r>
            <a:endParaRPr lang="en-US" sz="1500" dirty="0"/>
          </a:p>
        </p:txBody>
      </p:sp>
      <p:sp>
        <p:nvSpPr>
          <p:cNvPr id="27" name="Pontuação"/>
          <p:cNvSpPr/>
          <p:nvPr/>
        </p:nvSpPr>
        <p:spPr>
          <a:xfrm>
            <a:off x="6217920" y="2523744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E2EBF0"/>
          </a:solidFill>
          <a:ln w="12700">
            <a:solidFill>
              <a:srgbClr val="E2EBF0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217920" y="25237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6F95"/>
                </a:solidFill>
              </a:rPr>
              <a:t>GUT 320 · ganho rápido</a:t>
            </a:r>
            <a:endParaRPr lang="en-US" sz="1050" dirty="0"/>
          </a:p>
        </p:txBody>
      </p:sp>
      <p:sp>
        <p:nvSpPr>
          <p:cNvPr id="29" name="Text 24"/>
          <p:cNvSpPr txBox="1"/>
          <p:nvPr/>
        </p:nvSpPr>
        <p:spPr>
          <a:xfrm>
            <a:off x="6217920" y="290779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433"/>
                </a:solidFill>
              </a:rPr>
              <a:t>Barato e simples de instalar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433"/>
                </a:solidFill>
              </a:rPr>
              <a:t>Avisa Obras quando limpar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433"/>
                </a:solidFill>
              </a:rPr>
              <a:t>Ataca as 250 t de lixo nos bueiros</a:t>
            </a:r>
            <a:endParaRPr lang="en-US" sz="1150" dirty="0"/>
          </a:p>
        </p:txBody>
      </p:sp>
      <p:sp>
        <p:nvSpPr>
          <p:cNvPr id="30" name="Conclusão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13233A"/>
          </a:solidFill>
          <a:ln w="9525">
            <a:solidFill>
              <a:srgbClr val="13233A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685800" y="41605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2F"/>
                </a:solidFill>
              </a:rPr>
              <a:t>Por que juntas: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o WhatsApp protege desde o primeiro dia; sensor e bueiro deixam o aviso mais preciso.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da etapa"/>
          <p:cNvSpPr/>
          <p:nvPr/>
        </p:nvSpPr>
        <p:spPr>
          <a:xfrm>
            <a:off x="457200" y="25603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7E5E4"/>
          </a:solidFill>
          <a:ln w="12700">
            <a:solidFill>
              <a:srgbClr val="F7E5E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C8453C"/>
                </a:solidFill>
              </a:rPr>
              <a:t>A SOLUÇÃO</a:t>
            </a:r>
            <a:endParaRPr lang="en-US" sz="10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33A"/>
                </a:solidFill>
              </a:rPr>
              <a:t>ALERA em duas fases</a:t>
            </a:r>
            <a:endParaRPr lang="en-US" sz="3000" dirty="0"/>
          </a:p>
        </p:txBody>
      </p:sp>
      <p:sp>
        <p:nvSpPr>
          <p:cNvPr id="5" name="Linha de apoio"/>
          <p:cNvSpPr txBox="1"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Começa pela comunicação, sem hardware. Os sensores entram aos poucos, em paralelo.</a:t>
            </a:r>
            <a:endParaRPr lang="en-US" sz="1300" dirty="0"/>
          </a:p>
        </p:txBody>
      </p:sp>
      <p:sp>
        <p:nvSpPr>
          <p:cNvPr id="6" name="Fase 1"/>
          <p:cNvSpPr/>
          <p:nvPr/>
        </p:nvSpPr>
        <p:spPr>
          <a:xfrm>
            <a:off x="457200" y="1645920"/>
            <a:ext cx="3794760" cy="2971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7" name="Cabeçalho da fase"/>
          <p:cNvSpPr/>
          <p:nvPr/>
        </p:nvSpPr>
        <p:spPr>
          <a:xfrm>
            <a:off x="457200" y="1645920"/>
            <a:ext cx="3794760" cy="777240"/>
          </a:xfrm>
          <a:prstGeom prst="roundRect">
            <a:avLst>
              <a:gd name="adj" fmla="val 11765"/>
            </a:avLst>
          </a:prstGeom>
          <a:solidFill>
            <a:srgbClr val="4F9D69"/>
          </a:solidFill>
          <a:ln w="12700">
            <a:solidFill>
              <a:srgbClr val="4F9D69"/>
            </a:solidFill>
            <a:prstDash val="solid"/>
          </a:ln>
        </p:spPr>
      </p:sp>
      <p:sp>
        <p:nvSpPr>
          <p:cNvPr id="8" name="Cabeçalho da fase (base)"/>
          <p:cNvSpPr/>
          <p:nvPr/>
        </p:nvSpPr>
        <p:spPr>
          <a:xfrm>
            <a:off x="457200" y="2194560"/>
            <a:ext cx="3794760" cy="228600"/>
          </a:xfrm>
          <a:prstGeom prst="rect">
            <a:avLst/>
          </a:prstGeom>
          <a:solidFill>
            <a:srgbClr val="4F9D69"/>
          </a:solidFill>
          <a:ln w="12700">
            <a:solidFill>
              <a:srgbClr val="4F9D69"/>
            </a:solidFill>
            <a:prstDash val="solid"/>
          </a:ln>
        </p:spPr>
      </p:sp>
      <p:pic>
        <p:nvPicPr>
          <p:cNvPr id="9" name="Image 0" descr="Comunicaçã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2880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07008" y="171907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</a:rPr>
              <a:t>FASE 1  ·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Comunicação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207008" y="2084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Proteção desde o primeiro dia</a:t>
            </a:r>
            <a:endParaRPr lang="en-US" sz="1100" dirty="0"/>
          </a:p>
        </p:txBody>
      </p:sp>
      <p:sp>
        <p:nvSpPr>
          <p:cNvPr id="12" name="Círculo do ícone"/>
          <p:cNvSpPr/>
          <p:nvPr/>
        </p:nvSpPr>
        <p:spPr>
          <a:xfrm>
            <a:off x="685800" y="2606040"/>
            <a:ext cx="365760" cy="365760"/>
          </a:xfrm>
          <a:prstGeom prst="ellipse">
            <a:avLst/>
          </a:prstGeom>
          <a:solidFill>
            <a:srgbClr val="DFEDE4"/>
          </a:solidFill>
          <a:ln w="12700">
            <a:solidFill>
              <a:srgbClr val="DFEDE4"/>
            </a:solidFill>
            <a:prstDash val="solid"/>
          </a:ln>
        </p:spPr>
      </p:sp>
      <p:pic>
        <p:nvPicPr>
          <p:cNvPr id="13" name="Image 1" descr="FaGlob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55" y="2704795"/>
            <a:ext cx="168250" cy="16825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88720" y="257860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3"/>
                </a:solidFill>
              </a:rPr>
              <a:t>Site de cadastro: telefone e rua</a:t>
            </a:r>
            <a:endParaRPr lang="en-US" sz="1250" dirty="0"/>
          </a:p>
        </p:txBody>
      </p:sp>
      <p:sp>
        <p:nvSpPr>
          <p:cNvPr id="15" name="Círculo do ícone"/>
          <p:cNvSpPr/>
          <p:nvPr/>
        </p:nvSpPr>
        <p:spPr>
          <a:xfrm>
            <a:off x="685800" y="3090672"/>
            <a:ext cx="365760" cy="365760"/>
          </a:xfrm>
          <a:prstGeom prst="ellipse">
            <a:avLst/>
          </a:prstGeom>
          <a:solidFill>
            <a:srgbClr val="DFEDE4"/>
          </a:solidFill>
          <a:ln w="12700">
            <a:solidFill>
              <a:srgbClr val="DFEDE4"/>
            </a:solidFill>
            <a:prstDash val="solid"/>
          </a:ln>
        </p:spPr>
      </p:sp>
      <p:pic>
        <p:nvPicPr>
          <p:cNvPr id="16" name="Image 2" descr="FaCloudSunRa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555" y="3189427"/>
            <a:ext cx="168250" cy="16825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88720" y="306324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3"/>
                </a:solidFill>
              </a:rPr>
              <a:t>API de clima: previsão e chuva por local</a:t>
            </a:r>
            <a:endParaRPr lang="en-US" sz="1250" dirty="0"/>
          </a:p>
        </p:txBody>
      </p:sp>
      <p:sp>
        <p:nvSpPr>
          <p:cNvPr id="18" name="Círculo do ícone"/>
          <p:cNvSpPr/>
          <p:nvPr/>
        </p:nvSpPr>
        <p:spPr>
          <a:xfrm>
            <a:off x="685800" y="3575304"/>
            <a:ext cx="365760" cy="365760"/>
          </a:xfrm>
          <a:prstGeom prst="ellipse">
            <a:avLst/>
          </a:prstGeom>
          <a:solidFill>
            <a:srgbClr val="DFEDE4"/>
          </a:solidFill>
          <a:ln w="12700">
            <a:solidFill>
              <a:srgbClr val="DFEDE4"/>
            </a:solidFill>
            <a:prstDash val="solid"/>
          </a:ln>
        </p:spPr>
      </p:sp>
      <p:pic>
        <p:nvPicPr>
          <p:cNvPr id="19" name="Image 3" descr="FaRobo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" y="3674059"/>
            <a:ext cx="168250" cy="16825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188720" y="354787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3"/>
                </a:solidFill>
              </a:rPr>
              <a:t>IA cruza previsão com as áreas de risco</a:t>
            </a:r>
            <a:endParaRPr lang="en-US" sz="1250" dirty="0"/>
          </a:p>
        </p:txBody>
      </p:sp>
      <p:sp>
        <p:nvSpPr>
          <p:cNvPr id="21" name="Círculo do ícone"/>
          <p:cNvSpPr/>
          <p:nvPr/>
        </p:nvSpPr>
        <p:spPr>
          <a:xfrm>
            <a:off x="685800" y="4059936"/>
            <a:ext cx="365760" cy="365760"/>
          </a:xfrm>
          <a:prstGeom prst="ellipse">
            <a:avLst/>
          </a:prstGeom>
          <a:solidFill>
            <a:srgbClr val="DFEDE4"/>
          </a:solidFill>
          <a:ln w="12700">
            <a:solidFill>
              <a:srgbClr val="DFEDE4"/>
            </a:solidFill>
            <a:prstDash val="solid"/>
          </a:ln>
        </p:spPr>
      </p:sp>
      <p:pic>
        <p:nvPicPr>
          <p:cNvPr id="22" name="Image 4" descr="FaWhatsap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555" y="4158691"/>
            <a:ext cx="168250" cy="16825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188720" y="403250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3"/>
                </a:solidFill>
              </a:rPr>
              <a:t>Aviso no WhatsApp com o nome da rua</a:t>
            </a:r>
            <a:endParaRPr lang="en-US" sz="1250" dirty="0"/>
          </a:p>
        </p:txBody>
      </p:sp>
      <p:sp>
        <p:nvSpPr>
          <p:cNvPr id="24" name="Fase 2"/>
          <p:cNvSpPr/>
          <p:nvPr/>
        </p:nvSpPr>
        <p:spPr>
          <a:xfrm>
            <a:off x="4892040" y="1645920"/>
            <a:ext cx="3794760" cy="2971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25" name="Cabeçalho da fase"/>
          <p:cNvSpPr/>
          <p:nvPr/>
        </p:nvSpPr>
        <p:spPr>
          <a:xfrm>
            <a:off x="4892040" y="1645920"/>
            <a:ext cx="3794760" cy="777240"/>
          </a:xfrm>
          <a:prstGeom prst="roundRect">
            <a:avLst>
              <a:gd name="adj" fmla="val 11765"/>
            </a:avLst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26" name="Cabeçalho da fase (base)"/>
          <p:cNvSpPr/>
          <p:nvPr/>
        </p:nvSpPr>
        <p:spPr>
          <a:xfrm>
            <a:off x="4892040" y="2194560"/>
            <a:ext cx="3794760" cy="228600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pic>
        <p:nvPicPr>
          <p:cNvPr id="27" name="Image 5" descr="Hardwar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3208" y="1828800"/>
            <a:ext cx="411480" cy="41148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641848" y="171907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</a:rPr>
              <a:t>FASE 2  ·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Hardware</a:t>
            </a:r>
            <a:endParaRPr lang="en-US" sz="1100" dirty="0"/>
          </a:p>
        </p:txBody>
      </p:sp>
      <p:sp>
        <p:nvSpPr>
          <p:cNvPr id="29" name="Text 21"/>
          <p:cNvSpPr txBox="1"/>
          <p:nvPr/>
        </p:nvSpPr>
        <p:spPr>
          <a:xfrm>
            <a:off x="5641848" y="2084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Instalação gradual, área por área</a:t>
            </a:r>
            <a:endParaRPr lang="en-US" sz="1100" dirty="0"/>
          </a:p>
        </p:txBody>
      </p:sp>
      <p:sp>
        <p:nvSpPr>
          <p:cNvPr id="30" name="Círculo do ícone"/>
          <p:cNvSpPr/>
          <p:nvPr/>
        </p:nvSpPr>
        <p:spPr>
          <a:xfrm>
            <a:off x="5120640" y="2606040"/>
            <a:ext cx="365760" cy="365760"/>
          </a:xfrm>
          <a:prstGeom prst="ellipse">
            <a:avLst/>
          </a:prstGeom>
          <a:solidFill>
            <a:srgbClr val="D9E5EC"/>
          </a:solidFill>
          <a:ln w="12700">
            <a:solidFill>
              <a:srgbClr val="D9E5EC"/>
            </a:solidFill>
            <a:prstDash val="solid"/>
          </a:ln>
        </p:spPr>
      </p:sp>
      <p:pic>
        <p:nvPicPr>
          <p:cNvPr id="31" name="Image 6" descr="FaMountai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9395" y="2704795"/>
            <a:ext cx="168250" cy="16825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5623560" y="257860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3"/>
                </a:solidFill>
              </a:rPr>
              <a:t>Sensor ALERA nas encostas de maior risco</a:t>
            </a:r>
            <a:endParaRPr lang="en-US" sz="1250" dirty="0"/>
          </a:p>
        </p:txBody>
      </p:sp>
      <p:sp>
        <p:nvSpPr>
          <p:cNvPr id="33" name="Círculo do ícone"/>
          <p:cNvSpPr/>
          <p:nvPr/>
        </p:nvSpPr>
        <p:spPr>
          <a:xfrm>
            <a:off x="5120640" y="3090672"/>
            <a:ext cx="365760" cy="365760"/>
          </a:xfrm>
          <a:prstGeom prst="ellipse">
            <a:avLst/>
          </a:prstGeom>
          <a:solidFill>
            <a:srgbClr val="D9E5EC"/>
          </a:solidFill>
          <a:ln w="12700">
            <a:solidFill>
              <a:srgbClr val="D9E5EC"/>
            </a:solidFill>
            <a:prstDash val="solid"/>
          </a:ln>
        </p:spPr>
      </p:sp>
      <p:pic>
        <p:nvPicPr>
          <p:cNvPr id="34" name="Image 7" descr="FaWate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9395" y="3189427"/>
            <a:ext cx="168250" cy="168250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5623560" y="306324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3"/>
                </a:solidFill>
              </a:rPr>
              <a:t>Bueiro ALERA nos pontos que mais alagam</a:t>
            </a:r>
            <a:endParaRPr lang="en-US" sz="1250" dirty="0"/>
          </a:p>
        </p:txBody>
      </p:sp>
      <p:sp>
        <p:nvSpPr>
          <p:cNvPr id="36" name="Círculo do ícone"/>
          <p:cNvSpPr/>
          <p:nvPr/>
        </p:nvSpPr>
        <p:spPr>
          <a:xfrm>
            <a:off x="5120640" y="3575304"/>
            <a:ext cx="365760" cy="365760"/>
          </a:xfrm>
          <a:prstGeom prst="ellipse">
            <a:avLst/>
          </a:prstGeom>
          <a:solidFill>
            <a:srgbClr val="D9E5EC"/>
          </a:solidFill>
          <a:ln w="12700">
            <a:solidFill>
              <a:srgbClr val="D9E5EC"/>
            </a:solidFill>
            <a:prstDash val="solid"/>
          </a:ln>
        </p:spPr>
      </p:sp>
      <p:pic>
        <p:nvPicPr>
          <p:cNvPr id="37" name="Image 8" descr="FaBullhor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9395" y="3674059"/>
            <a:ext cx="168250" cy="168250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5623560" y="354787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3"/>
                </a:solidFill>
              </a:rPr>
              <a:t>LED e sirene na rua, mesmo sem internet</a:t>
            </a:r>
            <a:endParaRPr lang="en-US" sz="1250" dirty="0"/>
          </a:p>
        </p:txBody>
      </p:sp>
      <p:sp>
        <p:nvSpPr>
          <p:cNvPr id="39" name="Círculo do ícone"/>
          <p:cNvSpPr/>
          <p:nvPr/>
        </p:nvSpPr>
        <p:spPr>
          <a:xfrm>
            <a:off x="5120640" y="4059936"/>
            <a:ext cx="365760" cy="365760"/>
          </a:xfrm>
          <a:prstGeom prst="ellipse">
            <a:avLst/>
          </a:prstGeom>
          <a:solidFill>
            <a:srgbClr val="D9E5EC"/>
          </a:solidFill>
          <a:ln w="12700">
            <a:solidFill>
              <a:srgbClr val="D9E5EC"/>
            </a:solidFill>
            <a:prstDash val="solid"/>
          </a:ln>
        </p:spPr>
      </p:sp>
      <p:pic>
        <p:nvPicPr>
          <p:cNvPr id="40" name="Image 9" descr="FaSyncAlt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19395" y="4158691"/>
            <a:ext cx="168250" cy="168250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5623560" y="403250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3"/>
                </a:solidFill>
              </a:rPr>
              <a:t>Dado medido entra no mesmo aviso</a:t>
            </a:r>
            <a:endParaRPr lang="en-US" sz="1250" dirty="0"/>
          </a:p>
        </p:txBody>
      </p:sp>
      <p:sp>
        <p:nvSpPr>
          <p:cNvPr id="42" name="Seta entre fases"/>
          <p:cNvSpPr/>
          <p:nvPr/>
        </p:nvSpPr>
        <p:spPr>
          <a:xfrm>
            <a:off x="4270248" y="2834640"/>
            <a:ext cx="603504" cy="603504"/>
          </a:xfrm>
          <a:prstGeom prst="ellipse">
            <a:avLst/>
          </a:prstGeom>
          <a:solidFill>
            <a:srgbClr val="E07A2F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pic>
        <p:nvPicPr>
          <p:cNvPr id="43" name="Image 10" descr="Depois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16552" y="2980944"/>
            <a:ext cx="310896" cy="310896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457200" y="464515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675"/>
                </a:solidFill>
              </a:rPr>
              <a:t>WhatsApp é o canal principal. Telegram e SMS entram com o tempo.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da etapa"/>
          <p:cNvSpPr/>
          <p:nvPr/>
        </p:nvSpPr>
        <p:spPr>
          <a:xfrm>
            <a:off x="457200" y="256032"/>
            <a:ext cx="2286000" cy="256032"/>
          </a:xfrm>
          <a:prstGeom prst="roundRect">
            <a:avLst>
              <a:gd name="adj" fmla="val 50000"/>
            </a:avLst>
          </a:prstGeom>
          <a:solidFill>
            <a:srgbClr val="E6F1EA"/>
          </a:solidFill>
          <a:ln w="12700">
            <a:solidFill>
              <a:srgbClr val="E6F1E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4F9D69"/>
                </a:solidFill>
              </a:rPr>
              <a:t>FASE 1  ·  COMUNICAÇÃO</a:t>
            </a:r>
            <a:endParaRPr lang="en-US" sz="10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33A"/>
                </a:solidFill>
              </a:rPr>
              <a:t>Alerta ALERA no WhatsApp</a:t>
            </a:r>
            <a:endParaRPr lang="en-US" sz="3000" dirty="0"/>
          </a:p>
        </p:txBody>
      </p:sp>
      <p:sp>
        <p:nvSpPr>
          <p:cNvPr id="5" name="Linha de apoio"/>
          <p:cNvSpPr txBox="1"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Da previsão do tempo a uma mensagem com o nome da rua, sem instalar nada.</a:t>
            </a:r>
            <a:endParaRPr lang="en-US" sz="1300" dirty="0"/>
          </a:p>
        </p:txBody>
      </p:sp>
      <p:sp>
        <p:nvSpPr>
          <p:cNvPr id="6" name="Etapa 1"/>
          <p:cNvSpPr/>
          <p:nvPr/>
        </p:nvSpPr>
        <p:spPr>
          <a:xfrm>
            <a:off x="457200" y="164592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7" name="Círculo do ícone"/>
          <p:cNvSpPr/>
          <p:nvPr/>
        </p:nvSpPr>
        <p:spPr>
          <a:xfrm>
            <a:off x="1143000" y="1783080"/>
            <a:ext cx="457200" cy="457200"/>
          </a:xfrm>
          <a:prstGeom prst="ellipse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pic>
        <p:nvPicPr>
          <p:cNvPr id="8" name="Image 0" descr="FaGlob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6444" y="1906524"/>
            <a:ext cx="210312" cy="2103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23042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Cadastro no site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2578608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5"/>
                </a:solidFill>
              </a:rPr>
              <a:t>morador informa telefone e rua</a:t>
            </a:r>
            <a:endParaRPr lang="en-US" sz="1050" dirty="0"/>
          </a:p>
        </p:txBody>
      </p:sp>
      <p:sp>
        <p:nvSpPr>
          <p:cNvPr id="11" name="Seta"/>
          <p:cNvSpPr/>
          <p:nvPr/>
        </p:nvSpPr>
        <p:spPr>
          <a:xfrm>
            <a:off x="2331720" y="2308860"/>
            <a:ext cx="210312" cy="0"/>
          </a:xfrm>
          <a:prstGeom prst="line">
            <a:avLst/>
          </a:prstGeom>
          <a:noFill/>
          <a:ln w="1905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12" name="Etapa 2"/>
          <p:cNvSpPr/>
          <p:nvPr/>
        </p:nvSpPr>
        <p:spPr>
          <a:xfrm>
            <a:off x="2587752" y="164592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13" name="Círculo do ícone"/>
          <p:cNvSpPr/>
          <p:nvPr/>
        </p:nvSpPr>
        <p:spPr>
          <a:xfrm>
            <a:off x="3273552" y="1783080"/>
            <a:ext cx="457200" cy="457200"/>
          </a:xfrm>
          <a:prstGeom prst="ellipse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pic>
        <p:nvPicPr>
          <p:cNvPr id="14" name="Image 1" descr="FaCloudSunRa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6996" y="1906524"/>
            <a:ext cx="210312" cy="21031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679192" y="23042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API de clima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2697480" y="2578608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5"/>
                </a:solidFill>
              </a:rPr>
              <a:t>previsão, chance e mm de chuva</a:t>
            </a:r>
            <a:endParaRPr lang="en-US" sz="1050" dirty="0"/>
          </a:p>
        </p:txBody>
      </p:sp>
      <p:sp>
        <p:nvSpPr>
          <p:cNvPr id="17" name="Seta"/>
          <p:cNvSpPr/>
          <p:nvPr/>
        </p:nvSpPr>
        <p:spPr>
          <a:xfrm>
            <a:off x="4462272" y="2308860"/>
            <a:ext cx="210312" cy="0"/>
          </a:xfrm>
          <a:prstGeom prst="line">
            <a:avLst/>
          </a:prstGeom>
          <a:noFill/>
          <a:ln w="1905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18" name="Etapa 3"/>
          <p:cNvSpPr/>
          <p:nvPr/>
        </p:nvSpPr>
        <p:spPr>
          <a:xfrm>
            <a:off x="4718304" y="164592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13233A"/>
          </a:solidFill>
          <a:ln w="9525">
            <a:solidFill>
              <a:srgbClr val="13233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19" name="Círculo do ícone"/>
          <p:cNvSpPr/>
          <p:nvPr/>
        </p:nvSpPr>
        <p:spPr>
          <a:xfrm>
            <a:off x="5404104" y="1783080"/>
            <a:ext cx="457200" cy="45720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pic>
        <p:nvPicPr>
          <p:cNvPr id="20" name="Image 2" descr="FaRobo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7548" y="1906524"/>
            <a:ext cx="210312" cy="21031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809744" y="23042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ALERA + IA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4828032" y="2578608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3F5"/>
                </a:solidFill>
              </a:rPr>
              <a:t>cruza com as 142 áreas de risco</a:t>
            </a:r>
            <a:endParaRPr lang="en-US" sz="1050" dirty="0"/>
          </a:p>
        </p:txBody>
      </p:sp>
      <p:sp>
        <p:nvSpPr>
          <p:cNvPr id="23" name="Seta"/>
          <p:cNvSpPr/>
          <p:nvPr/>
        </p:nvSpPr>
        <p:spPr>
          <a:xfrm>
            <a:off x="6592824" y="2308860"/>
            <a:ext cx="210312" cy="0"/>
          </a:xfrm>
          <a:prstGeom prst="line">
            <a:avLst/>
          </a:prstGeom>
          <a:noFill/>
          <a:ln w="1905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24" name="Etapa 4"/>
          <p:cNvSpPr/>
          <p:nvPr/>
        </p:nvSpPr>
        <p:spPr>
          <a:xfrm>
            <a:off x="6848856" y="164592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25" name="Círculo do ícone"/>
          <p:cNvSpPr/>
          <p:nvPr/>
        </p:nvSpPr>
        <p:spPr>
          <a:xfrm>
            <a:off x="7534656" y="1783080"/>
            <a:ext cx="457200" cy="457200"/>
          </a:xfrm>
          <a:prstGeom prst="ellipse">
            <a:avLst/>
          </a:prstGeom>
          <a:solidFill>
            <a:srgbClr val="4F9D69"/>
          </a:solidFill>
          <a:ln w="12700">
            <a:solidFill>
              <a:srgbClr val="4F9D69"/>
            </a:solidFill>
            <a:prstDash val="solid"/>
          </a:ln>
        </p:spPr>
      </p:sp>
      <p:pic>
        <p:nvPicPr>
          <p:cNvPr id="26" name="Image 3" descr="FaWhatsap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0" y="1906524"/>
            <a:ext cx="210312" cy="21031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940296" y="23042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WhatsApp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6958584" y="2578608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75"/>
                </a:solidFill>
              </a:rPr>
              <a:t>aviso com o nome da rua</a:t>
            </a:r>
            <a:endParaRPr lang="en-US" sz="1050" dirty="0"/>
          </a:p>
        </p:txBody>
      </p:sp>
      <p:sp>
        <p:nvSpPr>
          <p:cNvPr id="29" name="Exemplo de mensagem"/>
          <p:cNvSpPr/>
          <p:nvPr/>
        </p:nvSpPr>
        <p:spPr>
          <a:xfrm>
            <a:off x="457200" y="3154680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EAF3ED"/>
          </a:solidFill>
          <a:ln w="9525">
            <a:solidFill>
              <a:srgbClr val="D3E7DA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640080" y="32461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9D69"/>
                </a:solidFill>
              </a:rPr>
              <a:t>Exemplo de aviso</a:t>
            </a:r>
            <a:endParaRPr lang="en-US" sz="1100" dirty="0"/>
          </a:p>
        </p:txBody>
      </p:sp>
      <p:sp>
        <p:nvSpPr>
          <p:cNvPr id="31" name="Text 25"/>
          <p:cNvSpPr txBox="1"/>
          <p:nvPr/>
        </p:nvSpPr>
        <p:spPr>
          <a:xfrm>
            <a:off x="640080" y="35204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3"/>
                </a:solidFill>
              </a:rPr>
              <a:t>ALERA · Rua das Acácias, Jardim Parque Burnier: previsão de 60 mm nas próximas 24 h. Nível ALERTA. Fique atento e veja o abrigo mais próximo.</a:t>
            </a:r>
            <a:endParaRPr lang="en-US" sz="1150" dirty="0"/>
          </a:p>
        </p:txBody>
      </p:sp>
      <p:sp>
        <p:nvSpPr>
          <p:cNvPr id="32" name="Text 26"/>
          <p:cNvSpPr txBox="1"/>
          <p:nvPr/>
        </p:nvSpPr>
        <p:spPr>
          <a:xfrm>
            <a:off x="4389120" y="31546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Níveis do aviso</a:t>
            </a:r>
            <a:endParaRPr lang="en-US" sz="1300" dirty="0"/>
          </a:p>
        </p:txBody>
      </p:sp>
      <p:sp>
        <p:nvSpPr>
          <p:cNvPr id="33" name="Luz"/>
          <p:cNvSpPr/>
          <p:nvPr/>
        </p:nvSpPr>
        <p:spPr>
          <a:xfrm>
            <a:off x="4416552" y="3557016"/>
            <a:ext cx="155448" cy="155448"/>
          </a:xfrm>
          <a:prstGeom prst="ellipse">
            <a:avLst/>
          </a:prstGeom>
          <a:solidFill>
            <a:srgbClr val="4F9D69"/>
          </a:solidFill>
          <a:ln w="12700">
            <a:solidFill>
              <a:srgbClr val="4F9D69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4709160" y="34930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33A"/>
                </a:solidFill>
              </a:rPr>
              <a:t>Normal  </a:t>
            </a:r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</a:rPr>
              <a:t>sem chuva forte prevista</a:t>
            </a:r>
            <a:endParaRPr lang="en-US" sz="1150" dirty="0"/>
          </a:p>
        </p:txBody>
      </p:sp>
      <p:sp>
        <p:nvSpPr>
          <p:cNvPr id="35" name="Luz"/>
          <p:cNvSpPr/>
          <p:nvPr/>
        </p:nvSpPr>
        <p:spPr>
          <a:xfrm>
            <a:off x="4416552" y="3840480"/>
            <a:ext cx="155448" cy="155448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4709160" y="37764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33A"/>
                </a:solidFill>
              </a:rPr>
              <a:t>Atenção  </a:t>
            </a:r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</a:rPr>
              <a:t>previsão de 30 mm ou mais em 24 h</a:t>
            </a:r>
            <a:endParaRPr lang="en-US" sz="1150" dirty="0"/>
          </a:p>
        </p:txBody>
      </p:sp>
      <p:sp>
        <p:nvSpPr>
          <p:cNvPr id="37" name="Luz"/>
          <p:cNvSpPr/>
          <p:nvPr/>
        </p:nvSpPr>
        <p:spPr>
          <a:xfrm>
            <a:off x="4416552" y="4123944"/>
            <a:ext cx="155448" cy="155448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4709160" y="405993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33A"/>
                </a:solidFill>
              </a:rPr>
              <a:t>Alerta  </a:t>
            </a:r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</a:rPr>
              <a:t>previsão de 50 mm ou mais em 24 h</a:t>
            </a:r>
            <a:endParaRPr lang="en-US" sz="1150" dirty="0"/>
          </a:p>
        </p:txBody>
      </p:sp>
      <p:sp>
        <p:nvSpPr>
          <p:cNvPr id="39" name="Luz"/>
          <p:cNvSpPr/>
          <p:nvPr/>
        </p:nvSpPr>
        <p:spPr>
          <a:xfrm>
            <a:off x="4416552" y="4407408"/>
            <a:ext cx="155448" cy="155448"/>
          </a:xfrm>
          <a:prstGeom prst="ellipse">
            <a:avLst/>
          </a:prstGeom>
          <a:solidFill>
            <a:srgbClr val="C8453C"/>
          </a:solidFill>
          <a:ln w="12700">
            <a:solidFill>
              <a:srgbClr val="C8453C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4709160" y="43434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33A"/>
                </a:solidFill>
              </a:rPr>
              <a:t>Perigo  </a:t>
            </a:r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</a:rPr>
              <a:t>alerta oficial da Defesa Civil para a área</a:t>
            </a:r>
            <a:endParaRPr lang="en-US" sz="1150" dirty="0"/>
          </a:p>
        </p:txBody>
      </p:sp>
      <p:sp>
        <p:nvSpPr>
          <p:cNvPr id="41" name="Text 35"/>
          <p:cNvSpPr txBox="1"/>
          <p:nvPr/>
        </p:nvSpPr>
        <p:spPr>
          <a:xfrm>
            <a:off x="4389120" y="464515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675"/>
                </a:solidFill>
              </a:rPr>
              <a:t>Rua e limites de demonstração.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da etapa"/>
          <p:cNvSpPr/>
          <p:nvPr/>
        </p:nvSpPr>
        <p:spPr>
          <a:xfrm>
            <a:off x="457200" y="256032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E2EBF0"/>
          </a:solidFill>
          <a:ln w="12700">
            <a:solidFill>
              <a:srgbClr val="E2EB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2E6F95"/>
                </a:solidFill>
              </a:rPr>
              <a:t>FASE 2  ·  HARDWARE</a:t>
            </a:r>
            <a:endParaRPr lang="en-US" sz="10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33A"/>
                </a:solidFill>
              </a:rPr>
              <a:t>Sensor ALERA</a:t>
            </a:r>
            <a:endParaRPr lang="en-US" sz="3000" dirty="0"/>
          </a:p>
        </p:txBody>
      </p:sp>
      <p:sp>
        <p:nvSpPr>
          <p:cNvPr id="5" name="Linha de apoio"/>
          <p:cNvSpPr txBox="1"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Mede o risco na própria encosta e avisa quem mora nela antes da terra descer.</a:t>
            </a:r>
            <a:endParaRPr lang="en-US" sz="1300" dirty="0"/>
          </a:p>
        </p:txBody>
      </p:sp>
      <p:sp>
        <p:nvSpPr>
          <p:cNvPr id="6" name="Sensor"/>
          <p:cNvSpPr/>
          <p:nvPr/>
        </p:nvSpPr>
        <p:spPr>
          <a:xfrm>
            <a:off x="457200" y="1645920"/>
            <a:ext cx="2514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7" name="Círculo do ícone"/>
          <p:cNvSpPr/>
          <p:nvPr/>
        </p:nvSpPr>
        <p:spPr>
          <a:xfrm>
            <a:off x="566928" y="1737360"/>
            <a:ext cx="384048" cy="384048"/>
          </a:xfrm>
          <a:prstGeom prst="ellipse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pic>
        <p:nvPicPr>
          <p:cNvPr id="8" name="Image 0" descr="FaTi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621" y="1841053"/>
            <a:ext cx="176662" cy="17666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51560" y="164592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33A"/>
                </a:solidFill>
              </a:rPr>
              <a:t>Umidade do solo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</a:rPr>
              <a:t>sensor capacitivo, em %</a:t>
            </a:r>
            <a:endParaRPr lang="en-US" sz="1250" dirty="0"/>
          </a:p>
        </p:txBody>
      </p:sp>
      <p:sp>
        <p:nvSpPr>
          <p:cNvPr id="10" name="Seta"/>
          <p:cNvSpPr/>
          <p:nvPr/>
        </p:nvSpPr>
        <p:spPr>
          <a:xfrm>
            <a:off x="3017520" y="1929384"/>
            <a:ext cx="457200" cy="0"/>
          </a:xfrm>
          <a:prstGeom prst="line">
            <a:avLst/>
          </a:prstGeom>
          <a:noFill/>
          <a:ln w="15875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11" name="Aviso"/>
          <p:cNvSpPr/>
          <p:nvPr/>
        </p:nvSpPr>
        <p:spPr>
          <a:xfrm>
            <a:off x="6172200" y="1645920"/>
            <a:ext cx="2514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12" name="Círculo do ícone"/>
          <p:cNvSpPr/>
          <p:nvPr/>
        </p:nvSpPr>
        <p:spPr>
          <a:xfrm>
            <a:off x="6281928" y="1737360"/>
            <a:ext cx="384048" cy="384048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pic>
        <p:nvPicPr>
          <p:cNvPr id="13" name="Image 1" descr="FaLightbul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5621" y="1841053"/>
            <a:ext cx="176662" cy="17666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766560" y="164592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33A"/>
                </a:solidFill>
              </a:rPr>
              <a:t>LEDs na rua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</a:rPr>
              <a:t>verde, amarelo e vermelho</a:t>
            </a:r>
            <a:endParaRPr lang="en-US" sz="1250" dirty="0"/>
          </a:p>
        </p:txBody>
      </p:sp>
      <p:sp>
        <p:nvSpPr>
          <p:cNvPr id="15" name="Seta"/>
          <p:cNvSpPr/>
          <p:nvPr/>
        </p:nvSpPr>
        <p:spPr>
          <a:xfrm>
            <a:off x="5669280" y="1929384"/>
            <a:ext cx="457200" cy="0"/>
          </a:xfrm>
          <a:prstGeom prst="line">
            <a:avLst/>
          </a:prstGeom>
          <a:noFill/>
          <a:ln w="15875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16" name="Sensor"/>
          <p:cNvSpPr/>
          <p:nvPr/>
        </p:nvSpPr>
        <p:spPr>
          <a:xfrm>
            <a:off x="457200" y="2304288"/>
            <a:ext cx="2514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17" name="Círculo do ícone"/>
          <p:cNvSpPr/>
          <p:nvPr/>
        </p:nvSpPr>
        <p:spPr>
          <a:xfrm>
            <a:off x="566928" y="2395728"/>
            <a:ext cx="384048" cy="384048"/>
          </a:xfrm>
          <a:prstGeom prst="ellipse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pic>
        <p:nvPicPr>
          <p:cNvPr id="18" name="Image 2" descr="FaCloudShowersHeav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621" y="2499421"/>
            <a:ext cx="176662" cy="17666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51560" y="230428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33A"/>
                </a:solidFill>
              </a:rPr>
              <a:t>Pluviômetro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</a:rPr>
              <a:t>chuva acumulada em 24 h e 72 h</a:t>
            </a:r>
            <a:endParaRPr lang="en-US" sz="1250" dirty="0"/>
          </a:p>
        </p:txBody>
      </p:sp>
      <p:sp>
        <p:nvSpPr>
          <p:cNvPr id="20" name="Seta"/>
          <p:cNvSpPr/>
          <p:nvPr/>
        </p:nvSpPr>
        <p:spPr>
          <a:xfrm>
            <a:off x="3017520" y="2587752"/>
            <a:ext cx="457200" cy="0"/>
          </a:xfrm>
          <a:prstGeom prst="line">
            <a:avLst/>
          </a:prstGeom>
          <a:noFill/>
          <a:ln w="15875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21" name="Aviso"/>
          <p:cNvSpPr/>
          <p:nvPr/>
        </p:nvSpPr>
        <p:spPr>
          <a:xfrm>
            <a:off x="6172200" y="2304288"/>
            <a:ext cx="2514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22" name="Círculo do ícone"/>
          <p:cNvSpPr/>
          <p:nvPr/>
        </p:nvSpPr>
        <p:spPr>
          <a:xfrm>
            <a:off x="6281928" y="2395728"/>
            <a:ext cx="384048" cy="384048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pic>
        <p:nvPicPr>
          <p:cNvPr id="23" name="Image 3" descr="FaBullhor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5621" y="2499421"/>
            <a:ext cx="176662" cy="17666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766560" y="230428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33A"/>
                </a:solidFill>
              </a:rPr>
              <a:t>Sirene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</a:rPr>
              <a:t>toca no nível de perigo</a:t>
            </a:r>
            <a:endParaRPr lang="en-US" sz="1250" dirty="0"/>
          </a:p>
        </p:txBody>
      </p:sp>
      <p:sp>
        <p:nvSpPr>
          <p:cNvPr id="25" name="Seta"/>
          <p:cNvSpPr/>
          <p:nvPr/>
        </p:nvSpPr>
        <p:spPr>
          <a:xfrm>
            <a:off x="5669280" y="2587752"/>
            <a:ext cx="457200" cy="0"/>
          </a:xfrm>
          <a:prstGeom prst="line">
            <a:avLst/>
          </a:prstGeom>
          <a:noFill/>
          <a:ln w="15875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26" name="Sensor"/>
          <p:cNvSpPr/>
          <p:nvPr/>
        </p:nvSpPr>
        <p:spPr>
          <a:xfrm>
            <a:off x="457200" y="2962656"/>
            <a:ext cx="2514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27" name="Círculo do ícone"/>
          <p:cNvSpPr/>
          <p:nvPr/>
        </p:nvSpPr>
        <p:spPr>
          <a:xfrm>
            <a:off x="566928" y="3054096"/>
            <a:ext cx="384048" cy="384048"/>
          </a:xfrm>
          <a:prstGeom prst="ellipse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pic>
        <p:nvPicPr>
          <p:cNvPr id="28" name="Image 4" descr="FaRulerVertica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621" y="3157789"/>
            <a:ext cx="176662" cy="17666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051560" y="2962656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33A"/>
                </a:solidFill>
              </a:rPr>
              <a:t>Acelerômetro MPU-6050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</a:rPr>
              <a:t>detecta se o terreno inclinou</a:t>
            </a:r>
            <a:endParaRPr lang="en-US" sz="1250" dirty="0"/>
          </a:p>
        </p:txBody>
      </p:sp>
      <p:sp>
        <p:nvSpPr>
          <p:cNvPr id="30" name="Seta"/>
          <p:cNvSpPr/>
          <p:nvPr/>
        </p:nvSpPr>
        <p:spPr>
          <a:xfrm>
            <a:off x="3017520" y="3246120"/>
            <a:ext cx="457200" cy="0"/>
          </a:xfrm>
          <a:prstGeom prst="line">
            <a:avLst/>
          </a:prstGeom>
          <a:noFill/>
          <a:ln w="15875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31" name="Aviso"/>
          <p:cNvSpPr/>
          <p:nvPr/>
        </p:nvSpPr>
        <p:spPr>
          <a:xfrm>
            <a:off x="6172200" y="2962656"/>
            <a:ext cx="2514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32" name="Círculo do ícone"/>
          <p:cNvSpPr/>
          <p:nvPr/>
        </p:nvSpPr>
        <p:spPr>
          <a:xfrm>
            <a:off x="6281928" y="3054096"/>
            <a:ext cx="384048" cy="384048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pic>
        <p:nvPicPr>
          <p:cNvPr id="33" name="Image 5" descr="FaWhatsapp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5621" y="3157789"/>
            <a:ext cx="176662" cy="17666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766560" y="2962656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33A"/>
                </a:solidFill>
              </a:rPr>
              <a:t>WhatsApp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</a:rPr>
              <a:t>o mesmo aviso da Fase 1</a:t>
            </a:r>
            <a:endParaRPr lang="en-US" sz="1250" dirty="0"/>
          </a:p>
        </p:txBody>
      </p:sp>
      <p:sp>
        <p:nvSpPr>
          <p:cNvPr id="35" name="Seta"/>
          <p:cNvSpPr/>
          <p:nvPr/>
        </p:nvSpPr>
        <p:spPr>
          <a:xfrm>
            <a:off x="5669280" y="3246120"/>
            <a:ext cx="457200" cy="0"/>
          </a:xfrm>
          <a:prstGeom prst="line">
            <a:avLst/>
          </a:prstGeom>
          <a:noFill/>
          <a:ln w="15875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36" name="ESP32"/>
          <p:cNvSpPr/>
          <p:nvPr/>
        </p:nvSpPr>
        <p:spPr>
          <a:xfrm>
            <a:off x="3520440" y="1645920"/>
            <a:ext cx="2103120" cy="1883664"/>
          </a:xfrm>
          <a:prstGeom prst="roundRect">
            <a:avLst>
              <a:gd name="adj" fmla="val 4854"/>
            </a:avLst>
          </a:prstGeom>
          <a:solidFill>
            <a:srgbClr val="13233A"/>
          </a:solidFill>
          <a:ln w="9525">
            <a:solidFill>
              <a:srgbClr val="13233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pic>
        <p:nvPicPr>
          <p:cNvPr id="37" name="Image 6" descr="Microcontrolado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1810512"/>
            <a:ext cx="457200" cy="45720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3520440" y="2331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ESP32</a:t>
            </a:r>
            <a:endParaRPr lang="en-US" sz="1600" dirty="0"/>
          </a:p>
        </p:txBody>
      </p:sp>
      <p:sp>
        <p:nvSpPr>
          <p:cNvPr id="39" name="Text 30"/>
          <p:cNvSpPr txBox="1"/>
          <p:nvPr/>
        </p:nvSpPr>
        <p:spPr>
          <a:xfrm>
            <a:off x="3657600" y="267004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3F5"/>
                </a:solidFill>
              </a:rPr>
              <a:t>compara as medidas com os limites e define o nível de alerta</a:t>
            </a:r>
            <a:endParaRPr lang="en-US" sz="1100" dirty="0"/>
          </a:p>
        </p:txBody>
      </p:sp>
      <p:sp>
        <p:nvSpPr>
          <p:cNvPr id="40" name="Nível Normal"/>
          <p:cNvSpPr/>
          <p:nvPr/>
        </p:nvSpPr>
        <p:spPr>
          <a:xfrm>
            <a:off x="457200" y="3767328"/>
            <a:ext cx="1920240" cy="841248"/>
          </a:xfrm>
          <a:prstGeom prst="roundRect">
            <a:avLst>
              <a:gd name="adj" fmla="val 10870"/>
            </a:avLst>
          </a:prstGeom>
          <a:solidFill>
            <a:srgbClr val="E6F1EA"/>
          </a:solidFill>
          <a:ln w="9525">
            <a:solidFill>
              <a:srgbClr val="E6F1EA"/>
            </a:solidFill>
            <a:prstDash val="solid"/>
          </a:ln>
        </p:spPr>
      </p:sp>
      <p:sp>
        <p:nvSpPr>
          <p:cNvPr id="41" name="Luz"/>
          <p:cNvSpPr/>
          <p:nvPr/>
        </p:nvSpPr>
        <p:spPr>
          <a:xfrm>
            <a:off x="594360" y="3922776"/>
            <a:ext cx="182880" cy="182880"/>
          </a:xfrm>
          <a:prstGeom prst="ellipse">
            <a:avLst/>
          </a:prstGeom>
          <a:solidFill>
            <a:srgbClr val="4F9D69"/>
          </a:solidFill>
          <a:ln w="12700">
            <a:solidFill>
              <a:srgbClr val="4F9D69"/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868680" y="385876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Normal</a:t>
            </a:r>
            <a:endParaRPr lang="en-US" sz="1300" dirty="0"/>
          </a:p>
        </p:txBody>
      </p:sp>
      <p:sp>
        <p:nvSpPr>
          <p:cNvPr id="43" name="Text 34"/>
          <p:cNvSpPr txBox="1"/>
          <p:nvPr/>
        </p:nvSpPr>
        <p:spPr>
          <a:xfrm>
            <a:off x="594360" y="41788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33"/>
                </a:solidFill>
              </a:rPr>
              <a:t>tudo abaixo dos limites</a:t>
            </a:r>
            <a:endParaRPr lang="en-US" sz="1050" dirty="0"/>
          </a:p>
        </p:txBody>
      </p:sp>
      <p:sp>
        <p:nvSpPr>
          <p:cNvPr id="44" name="Nível Atenção"/>
          <p:cNvSpPr/>
          <p:nvPr/>
        </p:nvSpPr>
        <p:spPr>
          <a:xfrm>
            <a:off x="2560320" y="3767328"/>
            <a:ext cx="1920240" cy="841248"/>
          </a:xfrm>
          <a:prstGeom prst="roundRect">
            <a:avLst>
              <a:gd name="adj" fmla="val 10870"/>
            </a:avLst>
          </a:prstGeom>
          <a:solidFill>
            <a:srgbClr val="FDF6E6"/>
          </a:solidFill>
          <a:ln w="9525">
            <a:solidFill>
              <a:srgbClr val="FDF6E6"/>
            </a:solidFill>
            <a:prstDash val="solid"/>
          </a:ln>
        </p:spPr>
      </p:sp>
      <p:sp>
        <p:nvSpPr>
          <p:cNvPr id="45" name="Luz"/>
          <p:cNvSpPr/>
          <p:nvPr/>
        </p:nvSpPr>
        <p:spPr>
          <a:xfrm>
            <a:off x="2697480" y="3922776"/>
            <a:ext cx="182880" cy="182880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46" name="Text 37"/>
          <p:cNvSpPr txBox="1"/>
          <p:nvPr/>
        </p:nvSpPr>
        <p:spPr>
          <a:xfrm>
            <a:off x="2971800" y="385876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Atenção</a:t>
            </a:r>
            <a:endParaRPr lang="en-US" sz="1300" dirty="0"/>
          </a:p>
        </p:txBody>
      </p:sp>
      <p:sp>
        <p:nvSpPr>
          <p:cNvPr id="47" name="Text 38"/>
          <p:cNvSpPr txBox="1"/>
          <p:nvPr/>
        </p:nvSpPr>
        <p:spPr>
          <a:xfrm>
            <a:off x="2697480" y="41788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33"/>
                </a:solidFill>
              </a:rPr>
              <a:t>umidade ≥ 60% ou 30 mm em 24 h</a:t>
            </a:r>
            <a:endParaRPr lang="en-US" sz="1050" dirty="0"/>
          </a:p>
        </p:txBody>
      </p:sp>
      <p:sp>
        <p:nvSpPr>
          <p:cNvPr id="48" name="Nível Alerta"/>
          <p:cNvSpPr/>
          <p:nvPr/>
        </p:nvSpPr>
        <p:spPr>
          <a:xfrm>
            <a:off x="4663440" y="3767328"/>
            <a:ext cx="1920240" cy="841248"/>
          </a:xfrm>
          <a:prstGeom prst="roundRect">
            <a:avLst>
              <a:gd name="adj" fmla="val 10870"/>
            </a:avLst>
          </a:prstGeom>
          <a:solidFill>
            <a:srgbClr val="FBECE2"/>
          </a:solidFill>
          <a:ln w="9525">
            <a:solidFill>
              <a:srgbClr val="FBECE2"/>
            </a:solidFill>
            <a:prstDash val="solid"/>
          </a:ln>
        </p:spPr>
      </p:sp>
      <p:sp>
        <p:nvSpPr>
          <p:cNvPr id="49" name="Luz"/>
          <p:cNvSpPr/>
          <p:nvPr/>
        </p:nvSpPr>
        <p:spPr>
          <a:xfrm>
            <a:off x="4800600" y="3922776"/>
            <a:ext cx="182880" cy="182880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50" name="Text 41"/>
          <p:cNvSpPr txBox="1"/>
          <p:nvPr/>
        </p:nvSpPr>
        <p:spPr>
          <a:xfrm>
            <a:off x="5074920" y="385876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Alerta</a:t>
            </a:r>
            <a:endParaRPr lang="en-US" sz="1300" dirty="0"/>
          </a:p>
        </p:txBody>
      </p:sp>
      <p:sp>
        <p:nvSpPr>
          <p:cNvPr id="51" name="Text 42"/>
          <p:cNvSpPr txBox="1"/>
          <p:nvPr/>
        </p:nvSpPr>
        <p:spPr>
          <a:xfrm>
            <a:off x="4800600" y="41788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33"/>
                </a:solidFill>
              </a:rPr>
              <a:t>umidade ≥ 80% ou 50 mm em 24 h</a:t>
            </a:r>
            <a:endParaRPr lang="en-US" sz="1050" dirty="0"/>
          </a:p>
        </p:txBody>
      </p:sp>
      <p:sp>
        <p:nvSpPr>
          <p:cNvPr id="52" name="Nível Perigo"/>
          <p:cNvSpPr/>
          <p:nvPr/>
        </p:nvSpPr>
        <p:spPr>
          <a:xfrm>
            <a:off x="6766560" y="3767328"/>
            <a:ext cx="1920240" cy="841248"/>
          </a:xfrm>
          <a:prstGeom prst="roundRect">
            <a:avLst>
              <a:gd name="adj" fmla="val 10870"/>
            </a:avLst>
          </a:prstGeom>
          <a:solidFill>
            <a:srgbClr val="F7E5E4"/>
          </a:solidFill>
          <a:ln w="9525">
            <a:solidFill>
              <a:srgbClr val="F7E5E4"/>
            </a:solidFill>
            <a:prstDash val="solid"/>
          </a:ln>
        </p:spPr>
      </p:sp>
      <p:sp>
        <p:nvSpPr>
          <p:cNvPr id="53" name="Luz"/>
          <p:cNvSpPr/>
          <p:nvPr/>
        </p:nvSpPr>
        <p:spPr>
          <a:xfrm>
            <a:off x="6903720" y="3922776"/>
            <a:ext cx="182880" cy="182880"/>
          </a:xfrm>
          <a:prstGeom prst="ellipse">
            <a:avLst/>
          </a:prstGeom>
          <a:solidFill>
            <a:srgbClr val="C8453C"/>
          </a:solidFill>
          <a:ln w="12700">
            <a:solidFill>
              <a:srgbClr val="C8453C"/>
            </a:solidFill>
            <a:prstDash val="solid"/>
          </a:ln>
        </p:spPr>
      </p:sp>
      <p:sp>
        <p:nvSpPr>
          <p:cNvPr id="54" name="Text 45"/>
          <p:cNvSpPr txBox="1"/>
          <p:nvPr/>
        </p:nvSpPr>
        <p:spPr>
          <a:xfrm>
            <a:off x="7178040" y="385876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Perigo</a:t>
            </a:r>
            <a:endParaRPr lang="en-US" sz="1300" dirty="0"/>
          </a:p>
        </p:txBody>
      </p:sp>
      <p:sp>
        <p:nvSpPr>
          <p:cNvPr id="55" name="Text 46"/>
          <p:cNvSpPr txBox="1"/>
          <p:nvPr/>
        </p:nvSpPr>
        <p:spPr>
          <a:xfrm>
            <a:off x="6903720" y="41788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33"/>
                </a:solidFill>
              </a:rPr>
              <a:t>terreno inclinou ≥ 2°: sair de casa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da etapa"/>
          <p:cNvSpPr/>
          <p:nvPr/>
        </p:nvSpPr>
        <p:spPr>
          <a:xfrm>
            <a:off x="457200" y="256032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E2EBF0"/>
          </a:solidFill>
          <a:ln w="12700">
            <a:solidFill>
              <a:srgbClr val="E2EB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2E6F95"/>
                </a:solidFill>
              </a:rPr>
              <a:t>FASE 2  ·  HARDWARE</a:t>
            </a:r>
            <a:endParaRPr lang="en-US" sz="10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33A"/>
                </a:solidFill>
              </a:rPr>
              <a:t>Bueiro ALERA</a:t>
            </a:r>
            <a:endParaRPr lang="en-US" sz="3000" dirty="0"/>
          </a:p>
        </p:txBody>
      </p:sp>
      <p:sp>
        <p:nvSpPr>
          <p:cNvPr id="5" name="Linha de apoio"/>
          <p:cNvSpPr txBox="1"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O cesto retém o lixo e o sensor avisa a Secretaria de Obras quando é hora de limpar.</a:t>
            </a:r>
            <a:endParaRPr lang="en-US" sz="1300" dirty="0"/>
          </a:p>
        </p:txBody>
      </p:sp>
      <p:sp>
        <p:nvSpPr>
          <p:cNvPr id="6" name="Rua"/>
          <p:cNvSpPr/>
          <p:nvPr/>
        </p:nvSpPr>
        <p:spPr>
          <a:xfrm>
            <a:off x="457200" y="1865376"/>
            <a:ext cx="2651760" cy="73152"/>
          </a:xfrm>
          <a:prstGeom prst="rect">
            <a:avLst/>
          </a:prstGeom>
          <a:solidFill>
            <a:srgbClr val="5B6675"/>
          </a:solidFill>
          <a:ln w="12700">
            <a:solidFill>
              <a:srgbClr val="5B667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60934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</a:rPr>
              <a:t>rua</a:t>
            </a:r>
            <a:endParaRPr lang="en-US" sz="1000" dirty="0"/>
          </a:p>
        </p:txBody>
      </p:sp>
      <p:sp>
        <p:nvSpPr>
          <p:cNvPr id="8" name="Caixa do bueiro"/>
          <p:cNvSpPr/>
          <p:nvPr/>
        </p:nvSpPr>
        <p:spPr>
          <a:xfrm>
            <a:off x="868680" y="1938528"/>
            <a:ext cx="1783080" cy="2377440"/>
          </a:xfrm>
          <a:prstGeom prst="rect">
            <a:avLst/>
          </a:prstGeom>
          <a:solidFill>
            <a:srgbClr val="F4F6F9"/>
          </a:solidFill>
          <a:ln w="25400">
            <a:solidFill>
              <a:srgbClr val="13233A"/>
            </a:solidFill>
            <a:prstDash val="solid"/>
          </a:ln>
        </p:spPr>
      </p:sp>
      <p:sp>
        <p:nvSpPr>
          <p:cNvPr id="9" name="Grelha"/>
          <p:cNvSpPr/>
          <p:nvPr/>
        </p:nvSpPr>
        <p:spPr>
          <a:xfrm>
            <a:off x="1188720" y="1847088"/>
            <a:ext cx="1143000" cy="109728"/>
          </a:xfrm>
          <a:prstGeom prst="rect">
            <a:avLst/>
          </a:prstGeom>
          <a:solidFill>
            <a:srgbClr val="1B2433"/>
          </a:solidFill>
          <a:ln w="12700">
            <a:solidFill>
              <a:srgbClr val="1B2433"/>
            </a:solidFill>
            <a:prstDash val="solid"/>
          </a:ln>
        </p:spPr>
      </p:sp>
      <p:sp>
        <p:nvSpPr>
          <p:cNvPr id="10" name="Fenda"/>
          <p:cNvSpPr/>
          <p:nvPr/>
        </p:nvSpPr>
        <p:spPr>
          <a:xfrm>
            <a:off x="1252728" y="1865376"/>
            <a:ext cx="73152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Fenda"/>
          <p:cNvSpPr/>
          <p:nvPr/>
        </p:nvSpPr>
        <p:spPr>
          <a:xfrm>
            <a:off x="1426464" y="1865376"/>
            <a:ext cx="73152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Fenda"/>
          <p:cNvSpPr/>
          <p:nvPr/>
        </p:nvSpPr>
        <p:spPr>
          <a:xfrm>
            <a:off x="1600200" y="1865376"/>
            <a:ext cx="73152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Fenda"/>
          <p:cNvSpPr/>
          <p:nvPr/>
        </p:nvSpPr>
        <p:spPr>
          <a:xfrm>
            <a:off x="1773936" y="1865376"/>
            <a:ext cx="73152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Fenda"/>
          <p:cNvSpPr/>
          <p:nvPr/>
        </p:nvSpPr>
        <p:spPr>
          <a:xfrm>
            <a:off x="1947672" y="1865376"/>
            <a:ext cx="73152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Fenda"/>
          <p:cNvSpPr/>
          <p:nvPr/>
        </p:nvSpPr>
        <p:spPr>
          <a:xfrm>
            <a:off x="2121408" y="1865376"/>
            <a:ext cx="73152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Água"/>
          <p:cNvSpPr/>
          <p:nvPr/>
        </p:nvSpPr>
        <p:spPr>
          <a:xfrm>
            <a:off x="886968" y="3749040"/>
            <a:ext cx="1746504" cy="548640"/>
          </a:xfrm>
          <a:prstGeom prst="rect">
            <a:avLst/>
          </a:prstGeom>
          <a:solidFill>
            <a:srgbClr val="2E6F95">
              <a:alpha val="35000"/>
            </a:srgbClr>
          </a:solidFill>
          <a:ln w="12700">
            <a:solidFill>
              <a:srgbClr val="2E6F95">
                <a:alpha val="0"/>
              </a:srgbClr>
            </a:solidFill>
            <a:prstDash val="solid"/>
          </a:ln>
        </p:spPr>
      </p:sp>
      <p:sp>
        <p:nvSpPr>
          <p:cNvPr id="17" name="Cesto de tela"/>
          <p:cNvSpPr/>
          <p:nvPr/>
        </p:nvSpPr>
        <p:spPr>
          <a:xfrm>
            <a:off x="1188720" y="2715768"/>
            <a:ext cx="11430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8C5A3C"/>
            </a:solidFill>
            <a:prstDash val="dash"/>
          </a:ln>
        </p:spPr>
      </p:sp>
      <p:sp>
        <p:nvSpPr>
          <p:cNvPr id="18" name="Lixo"/>
          <p:cNvSpPr/>
          <p:nvPr/>
        </p:nvSpPr>
        <p:spPr>
          <a:xfrm>
            <a:off x="1280160" y="3355848"/>
            <a:ext cx="274320" cy="155448"/>
          </a:xfrm>
          <a:prstGeom prst="roundRect">
            <a:avLst>
              <a:gd name="adj" fmla="val 23529"/>
            </a:avLst>
          </a:prstGeom>
          <a:solidFill>
            <a:srgbClr val="C6AD9E"/>
          </a:solidFill>
          <a:ln w="12700">
            <a:solidFill>
              <a:srgbClr val="C6AD9E"/>
            </a:solidFill>
            <a:prstDash val="solid"/>
          </a:ln>
        </p:spPr>
      </p:sp>
      <p:sp>
        <p:nvSpPr>
          <p:cNvPr id="19" name="Lixo"/>
          <p:cNvSpPr/>
          <p:nvPr/>
        </p:nvSpPr>
        <p:spPr>
          <a:xfrm>
            <a:off x="1618488" y="3401568"/>
            <a:ext cx="201168" cy="155448"/>
          </a:xfrm>
          <a:prstGeom prst="roundRect">
            <a:avLst>
              <a:gd name="adj" fmla="val 23529"/>
            </a:avLst>
          </a:prstGeom>
          <a:solidFill>
            <a:srgbClr val="C6AD9E"/>
          </a:solidFill>
          <a:ln w="12700">
            <a:solidFill>
              <a:srgbClr val="C6AD9E"/>
            </a:solidFill>
            <a:prstDash val="solid"/>
          </a:ln>
        </p:spPr>
      </p:sp>
      <p:sp>
        <p:nvSpPr>
          <p:cNvPr id="20" name="Lixo"/>
          <p:cNvSpPr/>
          <p:nvPr/>
        </p:nvSpPr>
        <p:spPr>
          <a:xfrm>
            <a:off x="1874520" y="3310128"/>
            <a:ext cx="292608" cy="155448"/>
          </a:xfrm>
          <a:prstGeom prst="roundRect">
            <a:avLst>
              <a:gd name="adj" fmla="val 23529"/>
            </a:avLst>
          </a:prstGeom>
          <a:solidFill>
            <a:srgbClr val="C6AD9E"/>
          </a:solidFill>
          <a:ln w="12700">
            <a:solidFill>
              <a:srgbClr val="C6AD9E"/>
            </a:solidFill>
            <a:prstDash val="solid"/>
          </a:ln>
        </p:spPr>
      </p:sp>
      <p:sp>
        <p:nvSpPr>
          <p:cNvPr id="21" name="Sensor ultrassônico"/>
          <p:cNvSpPr/>
          <p:nvPr/>
        </p:nvSpPr>
        <p:spPr>
          <a:xfrm>
            <a:off x="1627632" y="2011680"/>
            <a:ext cx="274320" cy="146304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22" name="Feixe"/>
          <p:cNvSpPr/>
          <p:nvPr/>
        </p:nvSpPr>
        <p:spPr>
          <a:xfrm>
            <a:off x="1764792" y="2176272"/>
            <a:ext cx="0" cy="502920"/>
          </a:xfrm>
          <a:prstGeom prst="line">
            <a:avLst/>
          </a:prstGeom>
          <a:noFill/>
          <a:ln w="15875">
            <a:solidFill>
              <a:srgbClr val="2E6F95"/>
            </a:solidFill>
            <a:prstDash val="sysDash"/>
          </a:ln>
        </p:spPr>
      </p:sp>
      <p:sp>
        <p:nvSpPr>
          <p:cNvPr id="23" name="Chave boia"/>
          <p:cNvSpPr/>
          <p:nvPr/>
        </p:nvSpPr>
        <p:spPr>
          <a:xfrm>
            <a:off x="2404872" y="3675888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8453C"/>
            </a:solidFill>
            <a:prstDash val="solid"/>
          </a:ln>
        </p:spPr>
      </p:sp>
      <p:sp>
        <p:nvSpPr>
          <p:cNvPr id="24" name="Saída para a galeria"/>
          <p:cNvSpPr/>
          <p:nvPr/>
        </p:nvSpPr>
        <p:spPr>
          <a:xfrm>
            <a:off x="2651760" y="3931920"/>
            <a:ext cx="502920" cy="182880"/>
          </a:xfrm>
          <a:prstGeom prst="rect">
            <a:avLst/>
          </a:prstGeom>
          <a:solidFill>
            <a:srgbClr val="5B6675"/>
          </a:solidFill>
          <a:ln w="12700">
            <a:solidFill>
              <a:srgbClr val="5B667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670048" y="415137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</a:rPr>
              <a:t>galeria</a:t>
            </a:r>
            <a:endParaRPr lang="en-US" sz="1000" dirty="0"/>
          </a:p>
        </p:txBody>
      </p:sp>
      <p:sp>
        <p:nvSpPr>
          <p:cNvPr id="26" name="ESP32 na calçada"/>
          <p:cNvSpPr/>
          <p:nvPr/>
        </p:nvSpPr>
        <p:spPr>
          <a:xfrm>
            <a:off x="3291840" y="2011680"/>
            <a:ext cx="1188720" cy="548640"/>
          </a:xfrm>
          <a:prstGeom prst="roundRect">
            <a:avLst>
              <a:gd name="adj" fmla="val 16667"/>
            </a:avLst>
          </a:prstGeom>
          <a:solidFill>
            <a:srgbClr val="13233A"/>
          </a:solidFill>
          <a:ln w="9525">
            <a:solidFill>
              <a:srgbClr val="13233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3291840" y="20116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ESP32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FE3F5"/>
                </a:solidFill>
              </a:rPr>
              <a:t>na calçada</a:t>
            </a:r>
            <a:endParaRPr lang="en-US" sz="1200" dirty="0"/>
          </a:p>
        </p:txBody>
      </p:sp>
      <p:sp>
        <p:nvSpPr>
          <p:cNvPr id="28" name="Cabo"/>
          <p:cNvSpPr/>
          <p:nvPr/>
        </p:nvSpPr>
        <p:spPr>
          <a:xfrm>
            <a:off x="1901952" y="2084832"/>
            <a:ext cx="1389888" cy="310896"/>
          </a:xfrm>
          <a:prstGeom prst="line">
            <a:avLst/>
          </a:prstGeom>
          <a:noFill/>
          <a:ln w="12700">
            <a:solidFill>
              <a:srgbClr val="13233A"/>
            </a:solidFill>
            <a:prstDash val="sysDot"/>
          </a:ln>
        </p:spPr>
      </p:sp>
      <p:sp>
        <p:nvSpPr>
          <p:cNvPr id="29" name="Seta"/>
          <p:cNvSpPr/>
          <p:nvPr/>
        </p:nvSpPr>
        <p:spPr>
          <a:xfrm>
            <a:off x="3886200" y="2606040"/>
            <a:ext cx="0" cy="365760"/>
          </a:xfrm>
          <a:prstGeom prst="line">
            <a:avLst/>
          </a:prstGeom>
          <a:noFill/>
          <a:ln w="15875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30" name="Aviso"/>
          <p:cNvSpPr/>
          <p:nvPr/>
        </p:nvSpPr>
        <p:spPr>
          <a:xfrm>
            <a:off x="3291840" y="3017520"/>
            <a:ext cx="1188720" cy="777240"/>
          </a:xfrm>
          <a:prstGeom prst="roundRect">
            <a:avLst>
              <a:gd name="adj" fmla="val 11765"/>
            </a:avLst>
          </a:prstGeom>
          <a:solidFill>
            <a:srgbClr val="2E6F95"/>
          </a:solidFill>
          <a:ln w="9525">
            <a:solidFill>
              <a:srgbClr val="2E6F95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3291840" y="301752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WhatsApp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Secretaria de Obras</a:t>
            </a:r>
            <a:endParaRPr lang="en-US" sz="1200" dirty="0"/>
          </a:p>
        </p:txBody>
      </p:sp>
      <p:sp>
        <p:nvSpPr>
          <p:cNvPr id="32" name="Marcador 1"/>
          <p:cNvSpPr/>
          <p:nvPr/>
        </p:nvSpPr>
        <p:spPr>
          <a:xfrm>
            <a:off x="1344168" y="1984248"/>
            <a:ext cx="219456" cy="219456"/>
          </a:xfrm>
          <a:prstGeom prst="ellipse">
            <a:avLst/>
          </a:prstGeom>
          <a:solidFill>
            <a:srgbClr val="E07A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344168" y="19842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34" name="Marcador 2"/>
          <p:cNvSpPr/>
          <p:nvPr/>
        </p:nvSpPr>
        <p:spPr>
          <a:xfrm>
            <a:off x="941832" y="3035808"/>
            <a:ext cx="219456" cy="219456"/>
          </a:xfrm>
          <a:prstGeom prst="ellipse">
            <a:avLst/>
          </a:prstGeom>
          <a:solidFill>
            <a:srgbClr val="E07A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41832" y="30358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6" name="Marcador 3"/>
          <p:cNvSpPr/>
          <p:nvPr/>
        </p:nvSpPr>
        <p:spPr>
          <a:xfrm>
            <a:off x="2350008" y="3904488"/>
            <a:ext cx="219456" cy="219456"/>
          </a:xfrm>
          <a:prstGeom prst="ellipse">
            <a:avLst/>
          </a:prstGeom>
          <a:solidFill>
            <a:srgbClr val="E07A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350008" y="39044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8" name="Marcador 4"/>
          <p:cNvSpPr/>
          <p:nvPr/>
        </p:nvSpPr>
        <p:spPr>
          <a:xfrm>
            <a:off x="3182112" y="1901952"/>
            <a:ext cx="219456" cy="219456"/>
          </a:xfrm>
          <a:prstGeom prst="ellipse">
            <a:avLst/>
          </a:prstGeom>
          <a:solidFill>
            <a:srgbClr val="E07A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182112" y="19019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892040" y="16276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Como funciona</a:t>
            </a:r>
            <a:endParaRPr lang="en-US" sz="1300" dirty="0"/>
          </a:p>
        </p:txBody>
      </p:sp>
      <p:sp>
        <p:nvSpPr>
          <p:cNvPr id="41" name="Marcador 1"/>
          <p:cNvSpPr/>
          <p:nvPr/>
        </p:nvSpPr>
        <p:spPr>
          <a:xfrm>
            <a:off x="4892040" y="1965960"/>
            <a:ext cx="219456" cy="219456"/>
          </a:xfrm>
          <a:prstGeom prst="ellipse">
            <a:avLst/>
          </a:prstGeom>
          <a:solidFill>
            <a:srgbClr val="E07A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892040" y="19659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5212080" y="19385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33A"/>
                </a:solidFill>
              </a:rPr>
              <a:t>Sensor ultrassônico  </a:t>
            </a:r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</a:rPr>
              <a:t>mede a altura do lixo e da água</a:t>
            </a:r>
            <a:endParaRPr lang="en-US" sz="1150" dirty="0"/>
          </a:p>
        </p:txBody>
      </p:sp>
      <p:sp>
        <p:nvSpPr>
          <p:cNvPr id="44" name="Marcador 2"/>
          <p:cNvSpPr/>
          <p:nvPr/>
        </p:nvSpPr>
        <p:spPr>
          <a:xfrm>
            <a:off x="4892040" y="2267712"/>
            <a:ext cx="219456" cy="219456"/>
          </a:xfrm>
          <a:prstGeom prst="ellipse">
            <a:avLst/>
          </a:prstGeom>
          <a:solidFill>
            <a:srgbClr val="E07A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892040" y="22677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5212080" y="2240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33A"/>
                </a:solidFill>
              </a:rPr>
              <a:t>Cesto de tela  </a:t>
            </a:r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</a:rPr>
              <a:t>segura o lixo antes da galeria</a:t>
            </a:r>
            <a:endParaRPr lang="en-US" sz="1150" dirty="0"/>
          </a:p>
        </p:txBody>
      </p:sp>
      <p:sp>
        <p:nvSpPr>
          <p:cNvPr id="47" name="Marcador 3"/>
          <p:cNvSpPr/>
          <p:nvPr/>
        </p:nvSpPr>
        <p:spPr>
          <a:xfrm>
            <a:off x="4892040" y="2569464"/>
            <a:ext cx="219456" cy="219456"/>
          </a:xfrm>
          <a:prstGeom prst="ellipse">
            <a:avLst/>
          </a:prstGeom>
          <a:solidFill>
            <a:srgbClr val="E07A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892040" y="25694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5212080" y="2542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33A"/>
                </a:solidFill>
              </a:rPr>
              <a:t>Chave boia  </a:t>
            </a:r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</a:rPr>
              <a:t>dispara se a água subir demais</a:t>
            </a:r>
            <a:endParaRPr lang="en-US" sz="1150" dirty="0"/>
          </a:p>
        </p:txBody>
      </p:sp>
      <p:sp>
        <p:nvSpPr>
          <p:cNvPr id="50" name="Marcador 4"/>
          <p:cNvSpPr/>
          <p:nvPr/>
        </p:nvSpPr>
        <p:spPr>
          <a:xfrm>
            <a:off x="4892040" y="2871216"/>
            <a:ext cx="219456" cy="219456"/>
          </a:xfrm>
          <a:prstGeom prst="ellipse">
            <a:avLst/>
          </a:prstGeom>
          <a:solidFill>
            <a:srgbClr val="E07A2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892040" y="28712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5212080" y="28437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33A"/>
                </a:solidFill>
              </a:rPr>
              <a:t>ESP32  </a:t>
            </a:r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</a:rPr>
              <a:t>lê os sensores e envia o aviso</a:t>
            </a:r>
            <a:endParaRPr lang="en-US" sz="1150" dirty="0"/>
          </a:p>
        </p:txBody>
      </p:sp>
      <p:sp>
        <p:nvSpPr>
          <p:cNvPr id="53" name="Text 51"/>
          <p:cNvSpPr txBox="1"/>
          <p:nvPr/>
        </p:nvSpPr>
        <p:spPr>
          <a:xfrm>
            <a:off x="4892040" y="32004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Estados do bueiro</a:t>
            </a:r>
            <a:endParaRPr lang="en-US" sz="1300" dirty="0"/>
          </a:p>
        </p:txBody>
      </p:sp>
      <p:sp>
        <p:nvSpPr>
          <p:cNvPr id="54" name="Luz"/>
          <p:cNvSpPr/>
          <p:nvPr/>
        </p:nvSpPr>
        <p:spPr>
          <a:xfrm>
            <a:off x="4919472" y="3575304"/>
            <a:ext cx="155448" cy="155448"/>
          </a:xfrm>
          <a:prstGeom prst="ellipse">
            <a:avLst/>
          </a:prstGeom>
          <a:solidFill>
            <a:srgbClr val="4F9D69"/>
          </a:solidFill>
          <a:ln w="12700">
            <a:solidFill>
              <a:srgbClr val="4F9D69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212080" y="35112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33A"/>
                </a:solidFill>
              </a:rPr>
              <a:t>OK  </a:t>
            </a:r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</a:rPr>
              <a:t>cesto abaixo de 50%</a:t>
            </a:r>
            <a:endParaRPr lang="en-US" sz="1150" dirty="0"/>
          </a:p>
        </p:txBody>
      </p:sp>
      <p:sp>
        <p:nvSpPr>
          <p:cNvPr id="56" name="Luz"/>
          <p:cNvSpPr/>
          <p:nvPr/>
        </p:nvSpPr>
        <p:spPr>
          <a:xfrm>
            <a:off x="4919472" y="3858768"/>
            <a:ext cx="155448" cy="155448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212080" y="3794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33A"/>
                </a:solidFill>
              </a:rPr>
              <a:t>Atenção  </a:t>
            </a:r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</a:rPr>
              <a:t>50% ou mais: agendar limpeza</a:t>
            </a:r>
            <a:endParaRPr lang="en-US" sz="1150" dirty="0"/>
          </a:p>
        </p:txBody>
      </p:sp>
      <p:sp>
        <p:nvSpPr>
          <p:cNvPr id="58" name="Luz"/>
          <p:cNvSpPr/>
          <p:nvPr/>
        </p:nvSpPr>
        <p:spPr>
          <a:xfrm>
            <a:off x="4919472" y="4142232"/>
            <a:ext cx="155448" cy="155448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212080" y="40782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33A"/>
                </a:solidFill>
              </a:rPr>
              <a:t>Limpar  </a:t>
            </a:r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</a:rPr>
              <a:t>75% ou mais: limpar antes da chuva</a:t>
            </a:r>
            <a:endParaRPr lang="en-US" sz="1150" dirty="0"/>
          </a:p>
        </p:txBody>
      </p:sp>
      <p:sp>
        <p:nvSpPr>
          <p:cNvPr id="60" name="Luz"/>
          <p:cNvSpPr/>
          <p:nvPr/>
        </p:nvSpPr>
        <p:spPr>
          <a:xfrm>
            <a:off x="4919472" y="4425696"/>
            <a:ext cx="155448" cy="155448"/>
          </a:xfrm>
          <a:prstGeom prst="ellipse">
            <a:avLst/>
          </a:prstGeom>
          <a:solidFill>
            <a:srgbClr val="C8453C"/>
          </a:solidFill>
          <a:ln w="12700">
            <a:solidFill>
              <a:srgbClr val="C8453C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212080" y="43616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33A"/>
                </a:solidFill>
              </a:rPr>
              <a:t>Entupido  </a:t>
            </a:r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</a:rPr>
              <a:t>boia acionada: mensagem urgente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da etapa"/>
          <p:cNvSpPr/>
          <p:nvPr/>
        </p:nvSpPr>
        <p:spPr>
          <a:xfrm>
            <a:off x="457200" y="256032"/>
            <a:ext cx="2286000" cy="256032"/>
          </a:xfrm>
          <a:prstGeom prst="roundRect">
            <a:avLst>
              <a:gd name="adj" fmla="val 50000"/>
            </a:avLst>
          </a:prstGeom>
          <a:solidFill>
            <a:srgbClr val="C8453C"/>
          </a:solidFill>
          <a:ln w="12700">
            <a:solidFill>
              <a:srgbClr val="C845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</a:rPr>
              <a:t>STORYTELLING  ·  ANTES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23 de fevereiro, de madrugada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48463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Dona Célia, 58 anos, mora há 20 anos no pé de um barranco no Jardim Parque Burnier, Zona Leste de Juiz de Fora. Em dois dias choveu quase o mês inteiro. O alerta da Defesa Civil chegou ao celular, o mesmo de toda chuva forte, para a cidade toda, e ela ficou em casa. Não houve sirene. De madrugada ouviu um estalo, viu poeira no ar, e o barranco desceu sobre as casas da rua de baixo.</a:t>
            </a:r>
            <a:endParaRPr lang="en-US" sz="1400" dirty="0"/>
          </a:p>
        </p:txBody>
      </p:sp>
      <p:sp>
        <p:nvSpPr>
          <p:cNvPr id="6" name="A causa"/>
          <p:cNvSpPr/>
          <p:nvPr/>
        </p:nvSpPr>
        <p:spPr>
          <a:xfrm>
            <a:off x="5669280" y="1371600"/>
            <a:ext cx="3017520" cy="2331720"/>
          </a:xfrm>
          <a:prstGeom prst="roundRect">
            <a:avLst>
              <a:gd name="adj" fmla="val 3922"/>
            </a:avLst>
          </a:prstGeom>
          <a:solidFill>
            <a:srgbClr val="13233A">
              <a:alpha val="85000"/>
            </a:srgbClr>
          </a:solidFill>
          <a:ln w="9525">
            <a:solidFill>
              <a:srgbClr val="C8453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897880" y="1508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2F"/>
                </a:solidFill>
              </a:rPr>
              <a:t>A causa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897880" y="187452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Solo encharcado perde resistência e escorrega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Ninguém media aquela encosta específica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O aviso era genérico e não dizia: saia agora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794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FE3F5"/>
                </a:solidFill>
              </a:rPr>
              <a:t>Personagem fictícia. História inspirada em relatos reais de sobreviventes do Jardim Parque Burnier (fev. 2026).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da etapa"/>
          <p:cNvSpPr/>
          <p:nvPr/>
        </p:nvSpPr>
        <p:spPr>
          <a:xfrm>
            <a:off x="457200" y="256032"/>
            <a:ext cx="2377440" cy="256032"/>
          </a:xfrm>
          <a:prstGeom prst="roundRect">
            <a:avLst>
              <a:gd name="adj" fmla="val 50000"/>
            </a:avLst>
          </a:prstGeom>
          <a:solidFill>
            <a:srgbClr val="E6F1EA"/>
          </a:solidFill>
          <a:ln w="12700">
            <a:solidFill>
              <a:srgbClr val="E6F1E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4F9D69"/>
                </a:solidFill>
              </a:rPr>
              <a:t>STORYTELLING  ·  DEPOIS</a:t>
            </a:r>
            <a:endParaRPr lang="en-US" sz="10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33A"/>
                </a:solidFill>
              </a:rPr>
              <a:t>A mesma noite, com a ALERA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4160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433"/>
                </a:solidFill>
              </a:rPr>
              <a:t>Dona Célia se cadastrou no site da ALERA com a rua dela. À tarde, chega no WhatsApp um aviso com o nome da rua: muita chuva prevista para o Burnier. No barranco atrás da casa há um Sensor ALERA, que não mede a cidade: mede aquela encosta. Quando a estaca se inclina, a sirene toca e a mensagem é direta: saia de casa. Ela e os vizinhos descem para a escola-abrigo antes do barranco ceder.</a:t>
            </a:r>
            <a:endParaRPr lang="en-US" sz="1400" dirty="0"/>
          </a:p>
        </p:txBody>
      </p:sp>
      <p:sp>
        <p:nvSpPr>
          <p:cNvPr id="6" name="Efeito"/>
          <p:cNvSpPr/>
          <p:nvPr/>
        </p:nvSpPr>
        <p:spPr>
          <a:xfrm>
            <a:off x="457200" y="3657600"/>
            <a:ext cx="4160520" cy="777240"/>
          </a:xfrm>
          <a:prstGeom prst="roundRect">
            <a:avLst>
              <a:gd name="adj" fmla="val 11765"/>
            </a:avLst>
          </a:prstGeom>
          <a:solidFill>
            <a:srgbClr val="E5F0E9"/>
          </a:solidFill>
          <a:ln w="9525">
            <a:solidFill>
              <a:srgbClr val="E5F0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36576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9D69"/>
                </a:solidFill>
              </a:rPr>
              <a:t>Efeito:  </a:t>
            </a:r>
            <a:pPr indent="0" marL="0">
              <a:buNone/>
            </a:pPr>
            <a:r>
              <a:rPr lang="en-US" sz="1350" dirty="0">
                <a:solidFill>
                  <a:srgbClr val="13233A"/>
                </a:solidFill>
              </a:rPr>
              <a:t>o aviso deixa de ser genérico e passa a ser da encosta onde a pessoa mora.</a:t>
            </a:r>
            <a:endParaRPr lang="en-US" sz="1350" dirty="0"/>
          </a:p>
        </p:txBody>
      </p:sp>
      <p:sp>
        <p:nvSpPr>
          <p:cNvPr id="8" name="Linha do tempo"/>
          <p:cNvSpPr/>
          <p:nvPr/>
        </p:nvSpPr>
        <p:spPr>
          <a:xfrm>
            <a:off x="5193792" y="1554480"/>
            <a:ext cx="0" cy="2194560"/>
          </a:xfrm>
          <a:prstGeom prst="line">
            <a:avLst/>
          </a:prstGeom>
          <a:noFill/>
          <a:ln w="25400">
            <a:solidFill>
              <a:srgbClr val="D5DCE4"/>
            </a:solidFill>
            <a:prstDash val="solid"/>
          </a:ln>
        </p:spPr>
      </p:sp>
      <p:sp>
        <p:nvSpPr>
          <p:cNvPr id="9" name="Marco Atenção · Fase 1"/>
          <p:cNvSpPr/>
          <p:nvPr/>
        </p:nvSpPr>
        <p:spPr>
          <a:xfrm>
            <a:off x="5074920" y="1435608"/>
            <a:ext cx="237744" cy="237744"/>
          </a:xfrm>
          <a:prstGeom prst="ellipse">
            <a:avLst/>
          </a:prstGeom>
          <a:solidFill>
            <a:srgbClr val="F2C14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58968" y="13990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675"/>
                </a:solidFill>
              </a:rPr>
              <a:t>16h00   </a:t>
            </a:r>
            <a:pPr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Atenção · Fase 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58968" y="16916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</a:rPr>
              <a:t>Previsão de 60 mm: primeiro aviso no WhatsApp</a:t>
            </a:r>
            <a:endParaRPr lang="en-US" sz="1200" dirty="0"/>
          </a:p>
        </p:txBody>
      </p:sp>
      <p:sp>
        <p:nvSpPr>
          <p:cNvPr id="12" name="Marco Alerta · Fase 2"/>
          <p:cNvSpPr/>
          <p:nvPr/>
        </p:nvSpPr>
        <p:spPr>
          <a:xfrm>
            <a:off x="5074920" y="2167128"/>
            <a:ext cx="237744" cy="237744"/>
          </a:xfrm>
          <a:prstGeom prst="ellipse">
            <a:avLst/>
          </a:prstGeom>
          <a:solidFill>
            <a:srgbClr val="E07A2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58968" y="21305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675"/>
                </a:solidFill>
              </a:rPr>
              <a:t>23h30   </a:t>
            </a:r>
            <a:pPr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Alerta · Fase 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58968" y="24231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</a:rPr>
              <a:t>Sensor mede 83% de umidade: novo aviso</a:t>
            </a:r>
            <a:endParaRPr lang="en-US" sz="1200" dirty="0"/>
          </a:p>
        </p:txBody>
      </p:sp>
      <p:sp>
        <p:nvSpPr>
          <p:cNvPr id="15" name="Marco Perigo"/>
          <p:cNvSpPr/>
          <p:nvPr/>
        </p:nvSpPr>
        <p:spPr>
          <a:xfrm>
            <a:off x="5074920" y="2898648"/>
            <a:ext cx="237744" cy="237744"/>
          </a:xfrm>
          <a:prstGeom prst="ellipse">
            <a:avLst/>
          </a:prstGeom>
          <a:solidFill>
            <a:srgbClr val="C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58968" y="28620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675"/>
                </a:solidFill>
              </a:rPr>
              <a:t>01h20   </a:t>
            </a:r>
            <a:pPr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Perigo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58968" y="31546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</a:rPr>
              <a:t>A estaca inclinou 2,3°: sirene e “saia de casa”</a:t>
            </a:r>
            <a:endParaRPr lang="en-US" sz="1200" dirty="0"/>
          </a:p>
        </p:txBody>
      </p:sp>
      <p:sp>
        <p:nvSpPr>
          <p:cNvPr id="18" name="Marco Casas vazias"/>
          <p:cNvSpPr/>
          <p:nvPr/>
        </p:nvSpPr>
        <p:spPr>
          <a:xfrm>
            <a:off x="5074920" y="3630168"/>
            <a:ext cx="237744" cy="237744"/>
          </a:xfrm>
          <a:prstGeom prst="ellipse">
            <a:avLst/>
          </a:prstGeom>
          <a:solidFill>
            <a:srgbClr val="4F9D6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58968" y="35935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675"/>
                </a:solidFill>
              </a:rPr>
              <a:t>01h40   </a:t>
            </a:r>
            <a:pPr indent="0" marL="0">
              <a:buNone/>
            </a:pPr>
            <a:r>
              <a:rPr lang="en-US" sz="1300" b="1" dirty="0">
                <a:solidFill>
                  <a:srgbClr val="13233A"/>
                </a:solidFill>
              </a:rPr>
              <a:t>Casas vazias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58968" y="38862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</a:rPr>
              <a:t>O barranco cede, mas todos já estão no abrigo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074920" y="437083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675"/>
                </a:solidFill>
              </a:rPr>
              <a:t>Cenário fictício para ilustrar o funcionamento da ALERA.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da etapa"/>
          <p:cNvSpPr/>
          <p:nvPr/>
        </p:nvSpPr>
        <p:spPr>
          <a:xfrm>
            <a:off x="457200" y="256032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</a:rPr>
              <a:t>PRÓXIMOS PASSOS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Do papel para o protótipo</a:t>
            </a:r>
            <a:endParaRPr lang="en-US" sz="3000" dirty="0"/>
          </a:p>
        </p:txBody>
      </p:sp>
      <p:sp>
        <p:nvSpPr>
          <p:cNvPr id="5" name="Passo"/>
          <p:cNvSpPr/>
          <p:nvPr/>
        </p:nvSpPr>
        <p:spPr>
          <a:xfrm>
            <a:off x="457200" y="146304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13233A">
              <a:alpha val="80000"/>
            </a:srgbClr>
          </a:solidFill>
          <a:ln w="9525">
            <a:solidFill>
              <a:srgbClr val="3A5675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6" name="Círculo do ícone"/>
          <p:cNvSpPr/>
          <p:nvPr/>
        </p:nvSpPr>
        <p:spPr>
          <a:xfrm>
            <a:off x="640080" y="1627632"/>
            <a:ext cx="438912" cy="438912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pic>
        <p:nvPicPr>
          <p:cNvPr id="7" name="Image 0" descr="FaWhatsap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586" y="1746138"/>
            <a:ext cx="201900" cy="2019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21579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Fase 1 · Comunicação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48716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F5"/>
                </a:solidFill>
              </a:rPr>
              <a:t>Site de cadastro, API de clima e aviso no WhatsApp com o nome da rua.</a:t>
            </a:r>
            <a:endParaRPr lang="en-US" sz="1200" dirty="0"/>
          </a:p>
        </p:txBody>
      </p:sp>
      <p:sp>
        <p:nvSpPr>
          <p:cNvPr id="10" name="Passo"/>
          <p:cNvSpPr/>
          <p:nvPr/>
        </p:nvSpPr>
        <p:spPr>
          <a:xfrm>
            <a:off x="3246120" y="146304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13233A">
              <a:alpha val="80000"/>
            </a:srgbClr>
          </a:solidFill>
          <a:ln w="9525">
            <a:solidFill>
              <a:srgbClr val="3A5675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11" name="Círculo do ícone"/>
          <p:cNvSpPr/>
          <p:nvPr/>
        </p:nvSpPr>
        <p:spPr>
          <a:xfrm>
            <a:off x="3429000" y="1627632"/>
            <a:ext cx="438912" cy="438912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pic>
        <p:nvPicPr>
          <p:cNvPr id="12" name="Image 1" descr="FaMicrochi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506" y="1746138"/>
            <a:ext cx="201900" cy="2019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29000" y="21579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Fase 2 · Hardware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429000" y="248716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F5"/>
                </a:solidFill>
              </a:rPr>
              <a:t>Maquete da encosta e do bueiro com ESP32 e chuva simulada.</a:t>
            </a:r>
            <a:endParaRPr lang="en-US" sz="1200" dirty="0"/>
          </a:p>
        </p:txBody>
      </p:sp>
      <p:sp>
        <p:nvSpPr>
          <p:cNvPr id="15" name="Passo"/>
          <p:cNvSpPr/>
          <p:nvPr/>
        </p:nvSpPr>
        <p:spPr>
          <a:xfrm>
            <a:off x="6035040" y="146304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13233A">
              <a:alpha val="80000"/>
            </a:srgbClr>
          </a:solidFill>
          <a:ln w="9525">
            <a:solidFill>
              <a:srgbClr val="3A5675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3">
                <a:alpha val="12000"/>
              </a:srgbClr>
            </a:outerShdw>
          </a:effectLst>
        </p:spPr>
      </p:sp>
      <p:sp>
        <p:nvSpPr>
          <p:cNvPr id="16" name="Círculo do ícone"/>
          <p:cNvSpPr/>
          <p:nvPr/>
        </p:nvSpPr>
        <p:spPr>
          <a:xfrm>
            <a:off x="6217920" y="1627632"/>
            <a:ext cx="438912" cy="438912"/>
          </a:xfrm>
          <a:prstGeom prst="ellipse">
            <a:avLst/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pic>
        <p:nvPicPr>
          <p:cNvPr id="17" name="Image 2" descr="FaSyncA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426" y="1746138"/>
            <a:ext cx="201900" cy="2019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217920" y="21579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Integração e testes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217920" y="248716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F5"/>
                </a:solidFill>
              </a:rPr>
              <a:t>Ligar os sensores ao mesmo aviso, calibrar e medir o tempo de resposta.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ALERA </a:t>
            </a:r>
            <a:pPr algn="ctr" indent="0" marL="0">
              <a:buNone/>
            </a:pPr>
            <a:r>
              <a:rPr lang="en-US" sz="2200" b="1" dirty="0">
                <a:solidFill>
                  <a:srgbClr val="E07A2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 lugar certo, na hora certa.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3F5"/>
                </a:solidFill>
              </a:rPr>
              <a:t>Obrigado!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 da etapa"/>
          <p:cNvSpPr/>
          <p:nvPr/>
        </p:nvSpPr>
        <p:spPr>
          <a:xfrm>
            <a:off x="457200" y="25603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E8EAEC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5B6675"/>
                </a:solidFill>
              </a:rPr>
              <a:t>FONTES</a:t>
            </a:r>
            <a:endParaRPr lang="en-US" sz="10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33A"/>
                </a:solidFill>
              </a:rPr>
              <a:t>Referências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40233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2433"/>
                </a:solidFill>
              </a:rPr>
              <a:t>AGÊNCIA PÚBLICA. “Eu vi a água... no outro dia, a lama”: Juiz de Fora tem 8 mil desabrigados pelas chuvas. mar. 2026.  </a:t>
            </a:r>
            <a:pPr indent="0" marL="0">
              <a:spcAft>
                <a:spcPts val="500"/>
              </a:spcAft>
              <a:buNone/>
            </a:pPr>
            <a:r>
              <a:rPr lang="en-US" sz="950" b="1" u="sng" dirty="0">
                <a:solidFill>
                  <a:srgbClr val="2E6F95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↗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2433"/>
                </a:solidFill>
              </a:rPr>
              <a:t>GAZETA DIGITAL. Juiz de Fora: para sobreviventes, sistemas de alertas não funcionaram. fev. 2026.  </a:t>
            </a:r>
            <a:pPr indent="0" marL="0">
              <a:spcAft>
                <a:spcPts val="500"/>
              </a:spcAft>
              <a:buNone/>
            </a:pPr>
            <a:r>
              <a:rPr lang="en-US" sz="950" b="1" u="sng" dirty="0">
                <a:solidFill>
                  <a:srgbClr val="2E6F95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↗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2433"/>
                </a:solidFill>
              </a:rPr>
              <a:t>MINISTÉRIO PÚBLICO FEDERAL. MPF apura falhas na prevenção e na resposta a desastres climáticos em Juiz de Fora e Ubá (MG). 2026.  </a:t>
            </a:r>
            <a:pPr indent="0" marL="0">
              <a:spcAft>
                <a:spcPts val="500"/>
              </a:spcAft>
              <a:buNone/>
            </a:pPr>
            <a:r>
              <a:rPr lang="en-US" sz="950" b="1" u="sng" dirty="0">
                <a:solidFill>
                  <a:srgbClr val="2E6F95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↗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2433"/>
                </a:solidFill>
              </a:rPr>
              <a:t>ACESSA.COM. Chuvas intensas colocam Juiz de Fora em alerta para deslizamentos. out. 2026.  </a:t>
            </a:r>
            <a:pPr indent="0" marL="0">
              <a:spcAft>
                <a:spcPts val="500"/>
              </a:spcAft>
              <a:buNone/>
            </a:pPr>
            <a:r>
              <a:rPr lang="en-US" sz="950" b="1" u="sng" dirty="0">
                <a:solidFill>
                  <a:srgbClr val="2E6F95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↗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2433"/>
                </a:solidFill>
              </a:rPr>
              <a:t>O TEMPO. Juiz de Fora em alerta vermelho para mais de 100 mm de chuva e risco de grandes deslizamentos. out. 2026.  </a:t>
            </a:r>
            <a:pPr indent="0" marL="0">
              <a:spcAft>
                <a:spcPts val="500"/>
              </a:spcAft>
              <a:buNone/>
            </a:pPr>
            <a:r>
              <a:rPr lang="en-US" sz="950" b="1" u="sng" dirty="0">
                <a:solidFill>
                  <a:srgbClr val="2E6F95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↗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2433"/>
                </a:solidFill>
              </a:rPr>
              <a:t>TRIBUNA DE MINAS. Temporal em Juiz de Fora expõe falhas em drenagem de diferentes vias. 9 fev. 2026.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2433"/>
                </a:solidFill>
              </a:rPr>
              <a:t>ACESSA.COM. Juiz de Fora recolhe mais de 35 toneladas de lixo das bocas de lobo em novembro. 6 dez. 2025.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371600"/>
            <a:ext cx="40233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2433"/>
                </a:solidFill>
              </a:rPr>
              <a:t>TRIBUNA DE MINAS. Juiz de Fora é a terceira cidade de Minas com mais áreas de risco geológico. 10 fev. 2024.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2433"/>
                </a:solidFill>
              </a:rPr>
              <a:t>ALMA PRETA. Juiz de Fora é a 9ª cidade do país com mais pessoas em áreas de risco, aponta Cemaden. 27 fev. 2026.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2433"/>
                </a:solidFill>
              </a:rPr>
              <a:t>TRIBUNA DE MINAS. Áreas de risco devem permanecer isoladas mesmo com trégua das chuvas. 28 fev. 2026.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2433"/>
                </a:solidFill>
              </a:rPr>
              <a:t>ESTADO DE MINAS. Como funciona o alerta da Defesa Civil que chega por SMS no seu celular. fev. 2026.  </a:t>
            </a:r>
            <a:pPr indent="0" marL="0">
              <a:spcAft>
                <a:spcPts val="500"/>
              </a:spcAft>
              <a:buNone/>
            </a:pPr>
            <a:r>
              <a:rPr lang="en-US" sz="950" b="1" u="sng" dirty="0">
                <a:solidFill>
                  <a:srgbClr val="2E6F95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↗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2433"/>
                </a:solidFill>
              </a:rPr>
              <a:t>TELETIME. MG, SP e AM lideram alertas extremos da Defesa Civil no primeiro semestre. 20 jul. 2026.  </a:t>
            </a:r>
            <a:pPr indent="0" marL="0">
              <a:spcAft>
                <a:spcPts val="500"/>
              </a:spcAft>
              <a:buNone/>
            </a:pPr>
            <a:r>
              <a:rPr lang="en-US" sz="950" b="1" u="sng" dirty="0">
                <a:solidFill>
                  <a:srgbClr val="2E6F95"/>
                </a:solidFill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↗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B2433"/>
                </a:solidFill>
              </a:rPr>
              <a:t>REZENDE, Anderson. Retorno sobre o pitch da ALERA (entrevista à equipe). FIAP, 29 out. 2026.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nkeyNerds Chuva">
  <a:themeElements>
    <a:clrScheme name="MonkeyNerds Chuva">
      <a:dk1>
        <a:srgbClr val="1B2433"/>
      </a:dk1>
      <a:lt1>
        <a:srgbClr val="FFFFFF"/>
      </a:lt1>
      <a:dk2>
        <a:srgbClr val="13233A"/>
      </a:dk2>
      <a:lt2>
        <a:srgbClr val="EEF2F6"/>
      </a:lt2>
      <a:accent1>
        <a:srgbClr val="2E6F95"/>
      </a:accent1>
      <a:accent2>
        <a:srgbClr val="E07A2F"/>
      </a:accent2>
      <a:accent3>
        <a:srgbClr val="C8453C"/>
      </a:accent3>
      <a:accent4>
        <a:srgbClr val="4F9D69"/>
      </a:accent4>
      <a:accent5>
        <a:srgbClr val="8C5A3C"/>
      </a:accent5>
      <a:accent6>
        <a:srgbClr val="F2C14E"/>
      </a:accent6>
      <a:hlink>
        <a:srgbClr val="2E6F95"/>
      </a:hlink>
      <a:folHlink>
        <a:srgbClr val="5B4B8A"/>
      </a:folHlink>
    </a:clrScheme>
    <a:fontScheme name="MonkeyNerds Chuv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 1 - ALERA - MonkeyNerds</dc:title>
  <dc:subject>PptxGenJS Presentation</dc:subject>
  <dc:creator>MonkeyNerds</dc:creator>
  <cp:lastModifiedBy>MonkeyNerds</cp:lastModifiedBy>
  <cp:revision>1</cp:revision>
  <dcterms:created xsi:type="dcterms:W3CDTF">2026-10-29T16:43:38Z</dcterms:created>
  <dcterms:modified xsi:type="dcterms:W3CDTF">2026-10-29T16:43:38Z</dcterms:modified>
</cp:coreProperties>
</file>